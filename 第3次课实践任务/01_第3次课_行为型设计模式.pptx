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课学习策略模式、模板方法模式和状态模式。三个模式都属于行为型设计模式，分别组织可替换算法、稳定流程骨架和随状态变化的行为。课堂以商城订单为背景，实践迁移到图书借阅系统。学习时需要掌握Java接口、继承、多态和异常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个模式解决的问题不同。配送费计算体现算法替换，订单处理体现公共流程与差异步骤，订单生命周期体现状态相关行为。理解模式时，需要同时解释业务变化、对象职责和运行过程，不能只记接口与类的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学习成果包括解释设计意图、读懂类图、跟踪运行时调用，以及独立完成借阅系统实践。读懂结构不等于理解执行过程：接口引用的类型与实际对象的类型可能不同，执行的方法由实际对象决定。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个模式都沿着问题、意图、结构、协作和迁移展开。先观察新增需求会影响哪些代码，再判断哪个职责值得独立。类图回答对象之间依赖谁，时序图回答一次调用先后经过谁，实践检验能否把判断方法用于另一种业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理解模式需要说明问题、稳定点、变化点和成本。例如配送方式增加属于算法变化，而重量是否合法属于算法内部判断。采用接口或继承之后，应进一步检查新增需求是否被限制在少数相关位置，而不是仅仅增加了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策略模式将一系列完成同一目标的算法分别封装，并使它们可以互换。订单结算需要得到配送费，标准配送和加急配送各自决定算法。结算服务持有策略接口，实际计算由传入的具体策略对象完成。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例使用订单金额、重量和冷链标记计算费用。配套工程实现标准配送与加急配送，两种算法遇到冷链订单都另加12元。冷链是算法内部的加价条件，不是独立的第三种配送策略。国际配送是后续需求的假设，并非工程已有功能。这里的订单对象是简化模型，不包含真实物流平台与地址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条件分支本身并没有问题。此页是说明重构动机的示意代码，不是工程中的完整方法。只有当多套算法需要独立维护、替换和测试时，集中选择与计算的方法才可能成为变化热点。少量稳定规则通常可以继续使用直接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增算法需要持续修改同一个结算方法，会使调用协调与具体计算混在一起。策略模式把计算职责移到不同对象中，但选择哪一种策略仍需要由客户端或装配代码决定。它隔离算法细节，不会使算法选择责任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策略模式的意图是定义一系列算法，分别封装，并使它们可以互换。稳定部分是calculate(Order)契约，变化部分是每种配送方式的费用规则。Context通过组合持有Strategy，依赖方向指向共同接口。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ippingStrategy声明calculate，StandardShipping和ExpressShipping提供算法，CheckoutService使用算法，ShippingDemo选择并传入具体策略。Client是协作参与者，不要求项目中真的建立一个名叫Client的类。角色名用于解释职责，业务类名用于表达领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实线有向关联表示CheckoutService持有并使用ShippingStrategy。具体配送类通过虚线与空心三角指向接口，表示实现。类图描述静态结构，不表示先后执行顺序。本图展示主要成员，构造器等辅助细节省略。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户端调用quote后，CheckoutService调用所持有对象的calculate。引用类型是ShippingStrategy，实际对象是ExpressShipping，因此执行加急算法。策略返回运费，结算服务再把商品金额与运费组合为Quote。图中返回箭头不表示新的业务请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ippingStrategy只约定输入订单、输出运费。接口不承担保存订单、发送通知或决定使用哪种策略。共同契约足够稳定时，新算法可以通过新增实现加入；若各算法需要完全不同的数据，应重新评估接口是否划分合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加急配送先计算18元基础费加每千克2.5元，冷链订单再加12元。4千克非冷链订单的运费为18＋4×2.5＝28元，冷链订单为40元。代码与配套工程ExpressShipping.calculate的计算规则一致，仅将表达式换行以便阅读。weightFee封装按重量计算金额的操作。算法内部保留冷链判断，策略模式不要求消除所有i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eckoutService通过构造器接收ShippingStrategy，并在quote中调用它。此页省略构造器，只展示关键协作，完整实现见配套工程。shipping字段为final，同一个服务对象不会重新赋值策略；演示通过创建使用不同策略的服务来比较报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ShippingDemo使用同一订单：商品金额200元、重量4千克、非冷链。标准配送费8＋4×1.2＝12.80元，加急配送费18＋4×2.5＝28.00元。两个CheckoutService对象接收不同策略，quote方法本身无需改动。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策略模式适合多个完整算法独立演化的场景。可以从算法是否能独立测试、调用方是否只关心结果、未来是否经常新增算法判断。若只有一个固定计算方式，建立接口和多种实现可能比直接方法更难维护。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收益来自算法变化与调用协调分离，而不是来自类的数量。代价包括更多对象、策略装配和共同契约维护。运行时选择策略不等于当前工程支持对同一服务对象随时更换策略，具体能力仍由服务接口决定。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判断策略模式时，要关注是否存在可整体替换的算法。支付渠道的手续费规则可能形成不同策略，但仅有负数校验不足以引入策略。推荐算法的运行时选择是较强的需求证据，仍需核实输入输出契约是否能够统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模板方法模式在父类中定义算法骨架，把部分步骤留给子类实现或覆盖。订单处理的顺序稳定，计价步骤和成功后的审计可以变化。父类决定什么时候调用扩展点，子类无需复制完整处理流程。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订单处理依次校验、计价、预留、保存，再执行成功扩展。工程中的预留只是修改内存标记，不是真实库存扣减。标准流程的成功扩展为空，审计流程追加审计记录。本订单示例没有通知步骤，借阅实践中的通知属于另一业务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稳定的是公共步骤顺序和异常向上传播的方式，变化的是calculate与afterSuccess等少量步骤。失败即停止表示异常后的步骤不再执行，不表示已经完成的步骤自动回滚。当前演示没有数据库事务或库存补偿机制。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模板方法模式通过继承复用骨架，子类在预留扩展点中填入差异。process是模板方法，calculate是抽象步骤，afterSuccess是钩子。父类调用子类实现体现控制反转：调用顺序由父类控制，具体行为通过多态决定。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抽象类OrderProcessor定义骨架和公共步骤；具体类StandardOrderProcessor实现计价，AuditedOrderProcessor进一步覆盖成功扩展。模板方法、原语操作和钩子是类中的方法职责，不是三个额外对象。不要把方法职责与类角色混为一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空心三角指向父类。StandardOrderProcessor继承OrderProcessor并实现calculate，AuditedOrderProcessor继承标准处理器并覆盖afterSuccess。后者沿用标准计价，只增加审计。图中保留关键成员，构造器和保存依赖省略。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cess声明为final，防止子类覆盖整个骨架。它依次调用validate、calculate、reserve、repository.save和afterSuccess。保存失败时不会进入成功钩子；如果钩子自身失败，保存已经发生，因此不能把该流程理解为自动具备原子事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原语操作通常是必须由子类完成的抽象步骤，例如calculate。钩子带有默认实现，子类可以选择覆盖，例如默认什么也不做的afterSuccess。是否设置钩子，应由真实扩展需求决定，不必把每一行代码都开放为扩展点。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默认空钩子使标准流程无需为可选扩展编写空实现。calculate没有合理的统一默认行为，因此使用abstract。抽象步骤要求具体类提供实现，钩子允许具体类沿用默认行为，两者都由模板方法在规定位置调用。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ditedOrderProcessor继承标准计价，只覆盖afterSuccess，并记录订单号与回执号。它没有复制process，也没有改变保存先于审计的关系。此页省略构造器和audit字段定义，完整代码见工程。审计成功扩展只在前面步骤正常返回后发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时序图突出保存与审计之间的顺序，省略处理器内部的校验、计价和预留调用。实际对象为AuditedOrderProcessor，但process继承自OrderProcessor。保存返回Receipt后，模板方法通过多态调用审计钩子，再返回回执。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测试应检查可观察的执行顺序和失败路径。例如无效订单不能进入保存，保存失败不能追加审计，标准流程与审计流程应得到相同核心结果。final约束与代码检查用于确认骨架没有被覆盖或复制，不能只凭最终结果相同判断结构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模板方法适用于长期共享同一顺序、仅少量步骤不同的算法。相似代码只是线索，稳定流程关系才是继承依据。若子类经常绕过父类步骤或覆盖大部分方法，原有骨架可能并不适合它。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统一骨架能减少顺序漂移，但也把子类与父类的执行约定联系起来。父类增加、删除或调整扩展点可能影响所有子类。扩展点过多会使执行过程难以追踪，因此需要限制钩子的数量并说明各自的调用条件。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策略模式通过组合替换一整套算法，模板方法通过继承复用骨架并改变少量步骤。两者可以协作，例如模板骨架中的计价步骤也可以委托给策略。本课分别展示两者，以便先理解各自保护的变化。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两段代码名称相似不能证明存在稳定骨架。只有顺序长期一致、差异集中在少量步骤时，模板方法才可能合适。80%是说明差异很大的假设例子，并非精确判定阈值。需要任意重排步骤时，应考虑组合式设计。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状态模式允许对象在内部状态改变时改变行为。订单仍通过pay、ship等业务方法对外提供服务，但动作是否合法以及如何迁移由当前状态对象解释。理解它需要先读懂业务状态图，再看状态类和委托关系。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本工程有PENDING、PAID、SHIPPED、COMPLETED和CANCELLED五种状态。支付失败保持PENDING；支付成功才进入PAID。教学模型把退款结束归入CANCELLED，用于说明迁移，真实订单系统可能区分退款中、已退款等更多状态。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箭头标明合法动作与目标状态。pay需要支付网关同意才迁移，ship与receive依次推进订单，cancel和refund到达取消终态。图中未列出的动作由状态实现拒绝。状态图描述业务规则，不能仅根据箭头数量机械生成类。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状态模式把依赖当前阶段的行为放入状态对象。Context保存统一业务入口，调用时委托当前State。切换当前状态后，同一业务方法可能变为允许或拒绝。状态数据与状态行为要同时存在，只有展示标签时通常无需使用状态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Order承担Context，OrderState声明动作，PendingState等具体类解释各阶段行为，客户端调用Order。BaseOrderState是本例复用拒绝行为的辅助基类，不是状态模式必须额外拥有的角色。角色对应关系比类名是否带State更重要。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der持有OrderState，BaseOrderState实现接口并默认拒绝动作，具体状态继承基类，只覆盖合法动作。本图展示代表性的PendingState和PaidState，其他状态遵循同一继承关系。支付网关是Order的协作者，其调用在支付时序图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OrderState列出订单生命周期中的动作，所有具体状态遵守这一契约。BaseOrderState默认抛出INVALID_TRANSITION错误，具体状态覆盖合法动作。接口统一不表示每个状态都允许所有动作，允许与拒绝正是具体状态的职责。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PendingState继承BaseOrderState。pay先调用paymentGateway().charge，失败时抛出PAYMENT_REJECTED，成功后才transitionTo(new PaidState())。本页仅展示支付方法，name和cancel省略；cancel可转入CancelledState，其他非法动作沿用基类拒绝行为。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der是业务入口，pay委托当前状态并传入this，使状态对象能够访问支付协作者并请求迁移。transitionTo更新当前状态引用。图示代码省略构造器及部分方法，不代表可单独编译的完整类。调用方无需先判断订单当前状态再选择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支付调用依次经过客户端、Order、PendingState和PaymentGateway。网关同意后，PendingState请求Order切换为PaidState。若网关拒绝，则抛出PAYMENT_REJECTED且不执行迁移。这体现先完成必要业务检查，再改变状态。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迁移规则可由具体状态、Context或外部状态机管理。本工程选择具体状态决定迁移，适合直接展示当前阶段的合法动作。复杂工作流可能需要集中配置、持久化或并发控制，这些能力不由状态模式自动提供。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状态测试既检查成功后的目标状态，也检查拒绝后的原状态。应覆盖支付拒绝、未支付发货、终态继续操作等情况。只验证一条正常链路不足以证明生命周期正确，因为多数错误发生在非法动作与失败边界。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当对象有明确生命周期，且多个动作都根据当前状态产生不同结果时，状态模式才可能带来收益。如果状态仅用于筛选或展示，没有相应行为，把枚举扩展成大量状态类会增加不必要的复杂度。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状态对象集中同一阶段的行为，但全部迁移关系可能分散在多个具体类中，需要状态图和测试共同维护。新增状态仍可能要求修改进入该状态的旧迁移，因此不能承诺所有新增状态都完全不改旧代码。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策略通常由客户端或装配选择，表达完成同一目标的不同算法；状态表达对象所处阶段，业务动作可能推动阶段改变。两者都使用组合与多态，结构相似不能代替语义判断。应先问对象是更换算法，还是推进生命周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布尔开关与展示标签通常只需要简单字段或枚举。订单多种状态共同影响支付、发货、取消等动作，是采用状态模式的较强证据。用户选择排序算法更接近策略，因为它不表达被排序对象的生命周期。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三个模式都封装变化，但变化单位不同。策略是整套算法，模板方法是固定骨架中的少量步骤，状态是对象当前阶段对应的行为。比较时同时考虑变化方向、类关系、选择责任和维护成本。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这些判断问题用于定位变化，不是必须依次执行的算法，也不是互斥选择。同一系统可以同时使用三个模式。若缺少独立变化的证据，应先保留简单实现，通过真实需求和测试发现需要提取的边界。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常见误用来自先决定模式再寻找理由。接口、抽象类和状态对象都应保护可说明的变化。类图需要配合运行时解释，否则很容易把结构相似误认为职责相同。评价设计应看修改范围、理解成本和测试证据。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实践改用图书借阅系统，要求独立分析读者规则、借阅流程和图书生命周期。订单案例提供分析方法，借阅任务单规定具体业务约束。不要直接替换业务类名后照搬代码，应先确定借阅场景中的稳定点与变化点。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送算法对应读者借阅规则，订单处理骨架对应借阅流程，订单状态对应图书生命周期。这是问题类型的对应，不是字段与方法的一一复制。借阅流程包含通知，订单处理示例没有通知，迁移时应遵循各自业务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任务A关注新增VIP规则时既有读者规则的稳定性，任务B关注公共顺序与成功审计，任务C关注合法动作与状态迁移。具体业务数值和完整验收要求见学生任务单。每阶段保留已有功能并运行全部测试。 重构导致接口变化时，可以适配原4项基线测试的对象装配与状态类型，但必须保留原业务断言和用例，不能删除测试来获得通过。参考工程保留Class03Application入口，并在Class03BaselineTest中展示这种迁移。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验收同时考查行为、结构、测试与说明。行为正确是基础，结构应使变化集中到相关职责，测试需要覆盖边界和失败路径，设计说明需要解释模式保护的变化及其成本。不以类名与参考实现相同作为正确标准。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交一个第3次课_学号_姓名.zip，里面仅含工程文件_学号_姓名.zip和设计说明_学号_姓名.docx。工程保留pom.xml与完整src，不包含target或IDE缓存。设计说明不超过300字，只含文字，不要求图或截图。第4次课继续学习命令、责任链与观察者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48B3A57-D479-46E9-9D4C-3D40527BF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239DDE0-A3BA-4642-B5A7-842743802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31DEE03-6821-45EA-9581-25A1F97B3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D15DB00-F29B-4FFA-B3A3-A627732C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87C5691-FE43-4A68-B384-819C7B385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A15ECCC-54FF-4BC7-9A54-CC8BCFB4D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FF08460-A7ED-4A96-89DF-F19BE9A9B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B32484-90DC-4904-A3C8-A3C4846FFE1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DB82715-2C30-4A2D-9CDF-3C2FD57DA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51FF8C5-F112-46AE-A694-077B5ED9E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6D089AF-4AAF-4CEF-83F9-BF0A82B0FAED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软件开发框架与设计模式实践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4D322B8-BE49-4C2F-9C02-3E685CBC40F5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 3 次课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EC07E0-0BC7-419A-9DE8-B8E8C686B9C7}"/>
              </a:ext>
            </a:extLst>
          </p:cNvPr>
          <p:cNvSpPr>
            <a:spLocks noGrp="1"/>
          </p:cNvSpPr>
          <p:nvPr/>
        </p:nvSpPr>
        <p:spPr>
          <a:xfrm>
            <a:off x="609600" y="2638425"/>
            <a:ext cx="6096000" cy="1771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57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行为型</a:t>
            </a:r>
          </a:p>
          <a:p>
            <a:pPr algn="l">
              <a:buNone/>
              <a:defRPr sz="57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设计模式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9CD83B-F25D-4016-A40A-E1B49FD80CBB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60960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算法、流程与状态的变化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1E1907-1A16-43AC-8F16-952F3D5C9647}"/>
              </a:ext>
            </a:extLst>
          </p:cNvPr>
          <p:cNvSpPr>
            <a:spLocks noGrp="1"/>
          </p:cNvSpPr>
          <p:nvPr/>
        </p:nvSpPr>
        <p:spPr>
          <a:xfrm>
            <a:off x="7353300" y="2047875"/>
            <a:ext cx="9525" cy="3143250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E412EA-C951-48BA-9F7B-68595C8646BE}"/>
              </a:ext>
            </a:extLst>
          </p:cNvPr>
          <p:cNvSpPr>
            <a:spLocks noGrp="1"/>
          </p:cNvSpPr>
          <p:nvPr/>
        </p:nvSpPr>
        <p:spPr>
          <a:xfrm>
            <a:off x="7924800" y="2266950"/>
            <a:ext cx="571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80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24BF61-394D-4221-B30C-593811A8622A}"/>
              </a:ext>
            </a:extLst>
          </p:cNvPr>
          <p:cNvSpPr>
            <a:spLocks noGrp="1"/>
          </p:cNvSpPr>
          <p:nvPr/>
        </p:nvSpPr>
        <p:spPr>
          <a:xfrm>
            <a:off x="8877300" y="2200275"/>
            <a:ext cx="28003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7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策略模式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7AF2C-7965-4FBD-B856-6559520B4607}"/>
              </a:ext>
            </a:extLst>
          </p:cNvPr>
          <p:cNvSpPr>
            <a:spLocks noGrp="1"/>
          </p:cNvSpPr>
          <p:nvPr/>
        </p:nvSpPr>
        <p:spPr>
          <a:xfrm>
            <a:off x="7924800" y="3409950"/>
            <a:ext cx="571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80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7571F7-353B-4A74-8625-F035F50645CF}"/>
              </a:ext>
            </a:extLst>
          </p:cNvPr>
          <p:cNvSpPr>
            <a:spLocks noGrp="1"/>
          </p:cNvSpPr>
          <p:nvPr/>
        </p:nvSpPr>
        <p:spPr>
          <a:xfrm>
            <a:off x="8877300" y="3343275"/>
            <a:ext cx="28003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7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模板方法模式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3C78A1-29C5-4BE0-8195-EECA02F52C37}"/>
              </a:ext>
            </a:extLst>
          </p:cNvPr>
          <p:cNvSpPr>
            <a:spLocks noGrp="1"/>
          </p:cNvSpPr>
          <p:nvPr/>
        </p:nvSpPr>
        <p:spPr>
          <a:xfrm>
            <a:off x="7924800" y="4552950"/>
            <a:ext cx="571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80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28BB53-331A-4A39-A4BC-2B74E30FE04A}"/>
              </a:ext>
            </a:extLst>
          </p:cNvPr>
          <p:cNvSpPr>
            <a:spLocks noGrp="1"/>
          </p:cNvSpPr>
          <p:nvPr/>
        </p:nvSpPr>
        <p:spPr>
          <a:xfrm>
            <a:off x="8877300" y="4486275"/>
            <a:ext cx="28003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7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状态模式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E61776-501F-4AAC-9EB9-542204375196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1AA183-185D-48B4-B55F-6D948FAA7DDD}"/>
              </a:ext>
            </a:extLst>
          </p:cNvPr>
          <p:cNvSpPr>
            <a:spLocks noGrp="1"/>
          </p:cNvSpPr>
          <p:nvPr/>
        </p:nvSpPr>
        <p:spPr>
          <a:xfrm>
            <a:off x="609600" y="6162675"/>
            <a:ext cx="10477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贯穿案例  商城订单处理</a:t>
            </a:r>
          </a:p>
        </p:txBody>
      </p:sp>
    </p:spTree>
    <p:extLst>
      <p:ext uri="{BB962C8B-B14F-4D97-AF65-F5344CB8AC3E}">
        <p14:creationId xmlns:p14="http://schemas.microsoft.com/office/powerpoint/2010/main" val="201326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D67EFE9-AFF5-4C19-8CAD-2723897FDBE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课程导入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B16D6B-19FD-4586-8865-CABBA59A2548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02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C49F99-5220-4646-9F9E-FA4A1C3B6BD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本次课学习内容与目标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76808F-51E6-41D7-BD8E-B2D6B35C904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BBD405-F2ED-43AD-9232-65A513891ED6}"/>
              </a:ext>
            </a:extLst>
          </p:cNvPr>
          <p:cNvSpPr>
            <a:spLocks noGrp="1"/>
          </p:cNvSpPr>
          <p:nvPr/>
        </p:nvSpPr>
        <p:spPr>
          <a:xfrm>
            <a:off x="1476375" y="1695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策略模式：整套算法怎样替换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22A417-AE01-4D95-99AF-85D4B047D3EA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C0E6AF-0FC0-455F-A3B3-42BF6F938EF0}"/>
              </a:ext>
            </a:extLst>
          </p:cNvPr>
          <p:cNvSpPr>
            <a:spLocks noGrp="1"/>
          </p:cNvSpPr>
          <p:nvPr/>
        </p:nvSpPr>
        <p:spPr>
          <a:xfrm>
            <a:off x="1476375" y="2647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模板方法模式：稳定骨架怎样复用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09FBF8-8FEB-4BF4-B56F-9089B7B080C7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F3CCE5-0299-40C3-B86A-E05D89124D38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状态模式：对象行为怎样随状态改变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D0507E-A061-48C7-8DB3-2480715E6A7A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323683-F353-4E7A-9CB6-68E59803B772}"/>
              </a:ext>
            </a:extLst>
          </p:cNvPr>
          <p:cNvSpPr>
            <a:spLocks noGrp="1"/>
          </p:cNvSpPr>
          <p:nvPr/>
        </p:nvSpPr>
        <p:spPr>
          <a:xfrm>
            <a:off x="1476375" y="4552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学习重点是识别变化、理解结构并解释运行时协作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8396E2-DD02-4F40-9D0B-9C1A88D97C59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DC1A04-86C0-4236-A612-94F241DB4C9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A67FDE-59F6-4389-B6FD-C8C2AD6CD95B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三个模式解决的问题不同。</a:t>
            </a:r>
          </a:p>
        </p:txBody>
      </p:sp>
    </p:spTree>
    <p:extLst>
      <p:ext uri="{BB962C8B-B14F-4D97-AF65-F5344CB8AC3E}">
        <p14:creationId xmlns:p14="http://schemas.microsoft.com/office/powerpoint/2010/main" val="1319615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7C920212-C985-49C1-82A5-9EAFE8A8B67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课程导入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D7588E-D849-414B-A70D-EB967EA993D7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03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A6C90B-86EA-45FF-B918-F5D4F90EEA6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本次课的学习成果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BF4560-F700-43B2-A6EE-49CACA08C8F1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说清意图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8FCF04-7CE5-46D9-AB46-0FDEFFD6FCFC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用自己的话解释三个模式要解决的问题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9623C1-F510-4AEC-A1F2-73E3A036BB4B}"/>
              </a:ext>
            </a:extLst>
          </p:cNvPr>
          <p:cNvSpPr>
            <a:spLocks noGrp="1"/>
          </p:cNvSpPr>
          <p:nvPr/>
        </p:nvSpPr>
        <p:spPr>
          <a:xfrm>
            <a:off x="6515100" y="1762125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读懂结构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9A8284-C53E-48A7-BC60-D2F411EFDC42}"/>
              </a:ext>
            </a:extLst>
          </p:cNvPr>
          <p:cNvSpPr>
            <a:spLocks noGrp="1"/>
          </p:cNvSpPr>
          <p:nvPr/>
        </p:nvSpPr>
        <p:spPr>
          <a:xfrm>
            <a:off x="6515100" y="249555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识别GoF角色、类关系与依赖方向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CFFC2D-B3AF-4656-B751-42D04390D606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解释运行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6DBBAB-1785-440E-BB6A-706933F7B789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跟踪一次调用实际经过哪些对象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B559E9-928A-428C-BEE2-31D96FA2F4D6}"/>
              </a:ext>
            </a:extLst>
          </p:cNvPr>
          <p:cNvSpPr>
            <a:spLocks noGrp="1"/>
          </p:cNvSpPr>
          <p:nvPr/>
        </p:nvSpPr>
        <p:spPr>
          <a:xfrm>
            <a:off x="6515100" y="3905250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完成迁移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0BE40C-C4F2-4A22-AC23-061405FDE086}"/>
              </a:ext>
            </a:extLst>
          </p:cNvPr>
          <p:cNvSpPr>
            <a:spLocks noGrp="1"/>
          </p:cNvSpPr>
          <p:nvPr/>
        </p:nvSpPr>
        <p:spPr>
          <a:xfrm>
            <a:off x="6515100" y="4638675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把订单示例中的方法迁移到借阅工程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876CDC-DEE5-4856-B052-46E0A3A4CA3A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ECF7F0-CDC6-42EB-B386-F0AC3B93955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E2E46EF-300C-47B7-A634-3F6F3FF09C84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学习成果包括解释设计意图、读懂类图、跟踪运行时调用，以及独立完成借阅系统实践。</a:t>
            </a:r>
          </a:p>
        </p:txBody>
      </p:sp>
    </p:spTree>
    <p:extLst>
      <p:ext uri="{BB962C8B-B14F-4D97-AF65-F5344CB8AC3E}">
        <p14:creationId xmlns:p14="http://schemas.microsoft.com/office/powerpoint/2010/main" val="1676517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477BE47B-842C-4EB8-AB43-DB976EF0E21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课程导入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DD48FB-0947-49C6-A4F4-A91DE76E506E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04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F02EB7-0477-46C5-9D90-ECBB7A23505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从问题到迁移的学习路线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993DB7-6EB4-412C-BF8D-F38AD66CF21D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96596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31D82E-55E4-46CE-BB48-0D066417DCFD}"/>
              </a:ext>
            </a:extLst>
          </p:cNvPr>
          <p:cNvSpPr>
            <a:spLocks noGrp="1"/>
          </p:cNvSpPr>
          <p:nvPr/>
        </p:nvSpPr>
        <p:spPr>
          <a:xfrm>
            <a:off x="609600" y="2943225"/>
            <a:ext cx="196596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B5DBC4-12F0-435C-997D-52F1870622E3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196596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观察变化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1D018E1-DA24-4142-B728-1625FECD87D5}"/>
              </a:ext>
            </a:extLst>
          </p:cNvPr>
          <p:cNvSpPr>
            <a:spLocks noGrp="1"/>
          </p:cNvSpPr>
          <p:nvPr/>
        </p:nvSpPr>
        <p:spPr>
          <a:xfrm>
            <a:off x="2804160" y="2038350"/>
            <a:ext cx="196596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B56833-0609-4023-89F5-0FB9CD5D7EFA}"/>
              </a:ext>
            </a:extLst>
          </p:cNvPr>
          <p:cNvSpPr>
            <a:spLocks noGrp="1"/>
          </p:cNvSpPr>
          <p:nvPr/>
        </p:nvSpPr>
        <p:spPr>
          <a:xfrm>
            <a:off x="2804160" y="2943225"/>
            <a:ext cx="196596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意图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6866B4-E84B-4249-8ABF-3352DF23D6DB}"/>
              </a:ext>
            </a:extLst>
          </p:cNvPr>
          <p:cNvSpPr>
            <a:spLocks noGrp="1"/>
          </p:cNvSpPr>
          <p:nvPr/>
        </p:nvSpPr>
        <p:spPr>
          <a:xfrm>
            <a:off x="2804160" y="3905250"/>
            <a:ext cx="196596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稳定什么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E08C4A-B91D-4F14-B1CB-645250B807DD}"/>
              </a:ext>
            </a:extLst>
          </p:cNvPr>
          <p:cNvSpPr>
            <a:spLocks noGrp="1"/>
          </p:cNvSpPr>
          <p:nvPr/>
        </p:nvSpPr>
        <p:spPr>
          <a:xfrm>
            <a:off x="4998720" y="2038350"/>
            <a:ext cx="196596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4B963F-D1AB-46DE-87EF-878A56757297}"/>
              </a:ext>
            </a:extLst>
          </p:cNvPr>
          <p:cNvSpPr>
            <a:spLocks noGrp="1"/>
          </p:cNvSpPr>
          <p:nvPr/>
        </p:nvSpPr>
        <p:spPr>
          <a:xfrm>
            <a:off x="4998720" y="2943225"/>
            <a:ext cx="196596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3B7AEA-A4D3-4567-AA77-CD2E0D8F417F}"/>
              </a:ext>
            </a:extLst>
          </p:cNvPr>
          <p:cNvSpPr>
            <a:spLocks noGrp="1"/>
          </p:cNvSpPr>
          <p:nvPr/>
        </p:nvSpPr>
        <p:spPr>
          <a:xfrm>
            <a:off x="4998720" y="3905250"/>
            <a:ext cx="196596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角色与关系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BE93119-AC43-410A-AA4C-1E987768BC5D}"/>
              </a:ext>
            </a:extLst>
          </p:cNvPr>
          <p:cNvSpPr>
            <a:spLocks noGrp="1"/>
          </p:cNvSpPr>
          <p:nvPr/>
        </p:nvSpPr>
        <p:spPr>
          <a:xfrm>
            <a:off x="7193280" y="2038350"/>
            <a:ext cx="196596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CB1D47C-62F4-4E86-89DC-1017B265F2B8}"/>
              </a:ext>
            </a:extLst>
          </p:cNvPr>
          <p:cNvSpPr>
            <a:spLocks noGrp="1"/>
          </p:cNvSpPr>
          <p:nvPr/>
        </p:nvSpPr>
        <p:spPr>
          <a:xfrm>
            <a:off x="7193280" y="2943225"/>
            <a:ext cx="196596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89FA81-6F37-461F-9494-9A02147BEEF4}"/>
              </a:ext>
            </a:extLst>
          </p:cNvPr>
          <p:cNvSpPr>
            <a:spLocks noGrp="1"/>
          </p:cNvSpPr>
          <p:nvPr/>
        </p:nvSpPr>
        <p:spPr>
          <a:xfrm>
            <a:off x="7193280" y="3905250"/>
            <a:ext cx="196596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运行时调用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76C9E-677B-4847-A6F0-1AB18AFB2A49}"/>
              </a:ext>
            </a:extLst>
          </p:cNvPr>
          <p:cNvSpPr>
            <a:spLocks noGrp="1"/>
          </p:cNvSpPr>
          <p:nvPr/>
        </p:nvSpPr>
        <p:spPr>
          <a:xfrm>
            <a:off x="9387840" y="2038350"/>
            <a:ext cx="196596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F43A40-3A76-4610-B538-A2D0BA721977}"/>
              </a:ext>
            </a:extLst>
          </p:cNvPr>
          <p:cNvSpPr>
            <a:spLocks noGrp="1"/>
          </p:cNvSpPr>
          <p:nvPr/>
        </p:nvSpPr>
        <p:spPr>
          <a:xfrm>
            <a:off x="9387840" y="2943225"/>
            <a:ext cx="196596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迁移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6C796D7-6E10-4B88-8F35-E7177E0BFD1A}"/>
              </a:ext>
            </a:extLst>
          </p:cNvPr>
          <p:cNvSpPr>
            <a:spLocks noGrp="1"/>
          </p:cNvSpPr>
          <p:nvPr/>
        </p:nvSpPr>
        <p:spPr>
          <a:xfrm>
            <a:off x="9387840" y="3905250"/>
            <a:ext cx="196596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独立任务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611DCE-D782-4DF7-8283-C73575E6211D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0192B9-DB69-4AE5-A6C4-B9E7C4EC8D27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7677094-54B0-4197-B3D0-5050EF383DA0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每个模式都沿着问题、意图、结构、协作和迁移展开。</a:t>
            </a:r>
          </a:p>
        </p:txBody>
      </p:sp>
    </p:spTree>
    <p:extLst>
      <p:ext uri="{BB962C8B-B14F-4D97-AF65-F5344CB8AC3E}">
        <p14:creationId xmlns:p14="http://schemas.microsoft.com/office/powerpoint/2010/main" val="1383255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841A18A0-B303-4F0F-B5F6-B3653154AB9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课程导入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21B685-CC4F-45E1-A0BF-640635FAA1E3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05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96BC96-CCD9-4DA2-B64F-3C4F2CCC880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理解一个模式需要回答四个问题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F68AAF-8C25-4B33-9387-4488268308F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EA49A7-DF4F-49FD-9059-8650F4284A14}"/>
              </a:ext>
            </a:extLst>
          </p:cNvPr>
          <p:cNvSpPr>
            <a:spLocks noGrp="1"/>
          </p:cNvSpPr>
          <p:nvPr/>
        </p:nvSpPr>
        <p:spPr>
          <a:xfrm>
            <a:off x="1476375" y="1695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它从什么反复出现的设计问题中产生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42BAEF-D993-47B4-8B1E-E908DE853722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CA2323-FCF3-4DCA-AE02-5C1C8A336330}"/>
              </a:ext>
            </a:extLst>
          </p:cNvPr>
          <p:cNvSpPr>
            <a:spLocks noGrp="1"/>
          </p:cNvSpPr>
          <p:nvPr/>
        </p:nvSpPr>
        <p:spPr>
          <a:xfrm>
            <a:off x="1476375" y="2647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它稳定什么，并允许什么继续变化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27CACC-2211-4DE2-A603-C84DA6B0595A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493E51-0519-4DC3-BE5B-A9C196D7F27E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类之间是什么关系，对象运行时怎样协作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430D60-6C84-42C2-BDAF-BF786FA193AC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353178-FFFA-4BAB-B729-CDF170DBEED2}"/>
              </a:ext>
            </a:extLst>
          </p:cNvPr>
          <p:cNvSpPr>
            <a:spLocks noGrp="1"/>
          </p:cNvSpPr>
          <p:nvPr/>
        </p:nvSpPr>
        <p:spPr>
          <a:xfrm>
            <a:off x="1476375" y="4552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什么情况下使用它，什么情况下保持简单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81E11E5-40B8-4478-89F0-AD485A00B7BC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146030-C2C1-4CFF-8C0E-A5F982F3D53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7911170-CE0A-4E12-BFBA-45C844C25259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先理解问题与结构，再把设计思路应用到新的业务场景。</a:t>
            </a:r>
          </a:p>
        </p:txBody>
      </p:sp>
    </p:spTree>
    <p:extLst>
      <p:ext uri="{BB962C8B-B14F-4D97-AF65-F5344CB8AC3E}">
        <p14:creationId xmlns:p14="http://schemas.microsoft.com/office/powerpoint/2010/main" val="467701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4D4A06E1-9352-40CE-BACD-A7FA72788F8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一 / 策略模式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3940F6-3549-4BAF-9F4A-F25F20E26A85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06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E8F034-2E03-4FF8-8E52-D8E6D463313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策略模式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515535-F78E-435B-8643-B26518063059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2047875" cy="1333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750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DB2B4E-F380-4EE7-8BEC-04D34DB695BC}"/>
              </a:ext>
            </a:extLst>
          </p:cNvPr>
          <p:cNvSpPr>
            <a:spLocks noGrp="1"/>
          </p:cNvSpPr>
          <p:nvPr/>
        </p:nvSpPr>
        <p:spPr>
          <a:xfrm>
            <a:off x="3124200" y="2324100"/>
            <a:ext cx="8191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7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当多套算法需要独立变化与替换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C4F64E-9149-4B05-B967-8F9B09F69E9B}"/>
              </a:ext>
            </a:extLst>
          </p:cNvPr>
          <p:cNvSpPr>
            <a:spLocks noGrp="1"/>
          </p:cNvSpPr>
          <p:nvPr/>
        </p:nvSpPr>
        <p:spPr>
          <a:xfrm>
            <a:off x="3124200" y="3819525"/>
            <a:ext cx="809625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订单配送：同一次结算，选择不同的费用算法。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7F7305-8385-40F4-B351-C6EC69E25DA6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56028D-6DC2-43E2-BD24-224DC50FC41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F0C551-9057-42BA-99BB-DECBC4448090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策略模式将一系列完成同一目标的算法分别封装，并使它们可以互换。</a:t>
            </a:r>
          </a:p>
        </p:txBody>
      </p:sp>
    </p:spTree>
    <p:extLst>
      <p:ext uri="{BB962C8B-B14F-4D97-AF65-F5344CB8AC3E}">
        <p14:creationId xmlns:p14="http://schemas.microsoft.com/office/powerpoint/2010/main" val="720704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2D4C854-4F19-42B1-8AAB-7E987BF27CE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一 / 策略模式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0F04BA-5F39-474E-9F80-CDA584E5532F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07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466A7D-2382-45FD-8CDA-4AEF5897DB4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订单配送案例背景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65537E-DC37-481D-B3C2-94933AA1E61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26742D-778B-41D6-9757-FFDC317E73E3}"/>
              </a:ext>
            </a:extLst>
          </p:cNvPr>
          <p:cNvSpPr>
            <a:spLocks noGrp="1"/>
          </p:cNvSpPr>
          <p:nvPr/>
        </p:nvSpPr>
        <p:spPr>
          <a:xfrm>
            <a:off x="1476375" y="1695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在线商城在结算时需要根据订单计算配送费用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F4CBFA-C69E-4553-AF9B-82631E11A1DA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F6F703-5F22-49FE-9E71-2AB15044BE64}"/>
              </a:ext>
            </a:extLst>
          </p:cNvPr>
          <p:cNvSpPr>
            <a:spLocks noGrp="1"/>
          </p:cNvSpPr>
          <p:nvPr/>
        </p:nvSpPr>
        <p:spPr>
          <a:xfrm>
            <a:off x="1476375" y="2647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订单包含商品金额、总重量以及是否需要冷链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A355A66-CFDC-4E65-83A1-28C8A522A386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41C84F-9394-4A8F-A43F-271287D8D03C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系统最初只有标准配送，运费规则直接写在结算服务中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E73E9B-057F-44AE-B43B-10FDA5C7E428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9085B2-D724-4D35-815D-7CF110D0DB26}"/>
              </a:ext>
            </a:extLst>
          </p:cNvPr>
          <p:cNvSpPr>
            <a:spLocks noGrp="1"/>
          </p:cNvSpPr>
          <p:nvPr/>
        </p:nvSpPr>
        <p:spPr>
          <a:xfrm>
            <a:off x="1476375" y="4552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业务增加加急配送；未来可能增加其他独立算法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8FB164-D03A-4D31-B6AF-1C310913A6C7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19EF8D-D6F6-4BC3-ABDD-66E746BB858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EF3B217-EC82-419A-9F2D-DAE3D38C5B04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结算服务只需要得到运费，不应该知道每种配送方式的计算细节。</a:t>
            </a:r>
          </a:p>
        </p:txBody>
      </p:sp>
    </p:spTree>
    <p:extLst>
      <p:ext uri="{BB962C8B-B14F-4D97-AF65-F5344CB8AC3E}">
        <p14:creationId xmlns:p14="http://schemas.microsoft.com/office/powerpoint/2010/main" val="304099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F175B1F-6448-41D6-B1FF-20A3955ACE8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一 / 策略模式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A085182-BEC1-4810-8633-5D2E6A64E025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08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6503D4-0681-4C13-8367-A31E8E84AE0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最初的条件分支没有错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37AF10-A45A-41E9-9263-9929C232D0FB}"/>
              </a:ext>
            </a:extLst>
          </p:cNvPr>
          <p:cNvSpPr>
            <a:spLocks noGrp="1"/>
          </p:cNvSpPr>
          <p:nvPr/>
        </p:nvSpPr>
        <p:spPr>
          <a:xfrm>
            <a:off x="8467725" y="1676400"/>
            <a:ext cx="9525" cy="3905250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29F680-007A-4356-B8EA-B697F5D3E4F9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7572375" cy="1800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Money shippingFee(Order order, ShippingType type) {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if (type == STANDARD) return standardFee(order);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if (type == EXPRESS)  return expressFee(order);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if (type == COLD)     return coldChainFee(order);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throw new IllegalArgumentException();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334ECA2-C5D2-484D-995E-A141FDE302FC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规则少且稳定时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4D5D12-1071-4127-A27F-EC395B92AEE6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条件分支最容易理解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F74D15-34DB-45DE-AB67-F1E0EF8B41AB}"/>
              </a:ext>
            </a:extLst>
          </p:cNvPr>
          <p:cNvSpPr>
            <a:spLocks noGrp="1"/>
          </p:cNvSpPr>
          <p:nvPr/>
        </p:nvSpPr>
        <p:spPr>
          <a:xfrm>
            <a:off x="8763000" y="36766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模式要由变化证据驱动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439952-E125-4E24-92F6-EA776717A9AF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1851401-36A9-4464-BB72-BFDD4AB4DAB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62F9A3-73F6-4963-AECE-2FDE8ECFB597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条件分支本身并没有问题。</a:t>
            </a:r>
          </a:p>
        </p:txBody>
      </p:sp>
    </p:spTree>
    <p:extLst>
      <p:ext uri="{BB962C8B-B14F-4D97-AF65-F5344CB8AC3E}">
        <p14:creationId xmlns:p14="http://schemas.microsoft.com/office/powerpoint/2010/main" val="1178780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0AEB3AB-E47E-4A8A-B823-90B91797B27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一 / 策略模式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7A0B00-571A-4997-A36C-1CE69EAE7BE5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09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C89BBA-C644-496D-AC12-A0FB6747F25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变化压力怎样积累？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9E2A8AA-35EF-4F30-A3D4-96265C6BE97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DCC8A4-720F-4DD6-B401-531C022906CC}"/>
              </a:ext>
            </a:extLst>
          </p:cNvPr>
          <p:cNvSpPr>
            <a:spLocks noGrp="1"/>
          </p:cNvSpPr>
          <p:nvPr/>
        </p:nvSpPr>
        <p:spPr>
          <a:xfrm>
            <a:off x="1476375" y="1695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不同配送算法拥有不同规则、边界和测试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6DFBE4-1CB4-4BF5-A8B3-975493C9F6E1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76A85A-51AB-4355-9FAA-755B2CEE8F16}"/>
              </a:ext>
            </a:extLst>
          </p:cNvPr>
          <p:cNvSpPr>
            <a:spLocks noGrp="1"/>
          </p:cNvSpPr>
          <p:nvPr/>
        </p:nvSpPr>
        <p:spPr>
          <a:xfrm>
            <a:off x="1476375" y="2647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新算法加入时持续修改同一个方法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ACA356-37EA-4A7F-B2DC-795A6D7A11EF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56803E-B268-40C7-BF5A-70204BD6E89A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促销期需要临时切换算法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28B474-8471-48D7-A2AC-D76742ECDE15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8F68D7-CF42-4234-A45D-169975F437AF}"/>
              </a:ext>
            </a:extLst>
          </p:cNvPr>
          <p:cNvSpPr>
            <a:spLocks noGrp="1"/>
          </p:cNvSpPr>
          <p:nvPr/>
        </p:nvSpPr>
        <p:spPr>
          <a:xfrm>
            <a:off x="1476375" y="4552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调用方只想得到费用，不应了解计算细节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1A845F-3B03-4612-9A06-6E9C4166A52E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AAF40D-8944-48CE-87E4-E9D0CB7F5A5D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1B24F2-ED06-42A7-9AC7-0E5A2E60F120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新增算法需要持续修改同一个结算方法，会使调用协调与具体计算混在一起。</a:t>
            </a:r>
          </a:p>
        </p:txBody>
      </p:sp>
    </p:spTree>
    <p:extLst>
      <p:ext uri="{BB962C8B-B14F-4D97-AF65-F5344CB8AC3E}">
        <p14:creationId xmlns:p14="http://schemas.microsoft.com/office/powerpoint/2010/main" val="50179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4D61E00-E775-4246-8A24-0EF2C36C7E6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一 / 策略模式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971A6BA-68AC-43DD-8676-5D0E1A524259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10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9162DC7-6F6B-4AB3-BB3D-2497896EA10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策略模式的核心意图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374115-96AE-4798-944B-458371AA2D0C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8389C3-2C99-4C80-94DF-0B0CF7A3D1EB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5095875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6398DB-F729-4721-BE6B-DCE45532246A}"/>
              </a:ext>
            </a:extLst>
          </p:cNvPr>
          <p:cNvSpPr>
            <a:spLocks noGrp="1"/>
          </p:cNvSpPr>
          <p:nvPr/>
        </p:nvSpPr>
        <p:spPr>
          <a:xfrm>
            <a:off x="6515100" y="1819275"/>
            <a:ext cx="50673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稳定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0AE85D-40F5-4AF6-95EC-AFCB5786BA01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5095875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一系列完成同一目标的算法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算法独立增加、替换和测试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9E32DA-AC1F-40F1-9A38-5E20BF8733DC}"/>
              </a:ext>
            </a:extLst>
          </p:cNvPr>
          <p:cNvSpPr>
            <a:spLocks noGrp="1"/>
          </p:cNvSpPr>
          <p:nvPr/>
        </p:nvSpPr>
        <p:spPr>
          <a:xfrm>
            <a:off x="6515100" y="2952750"/>
            <a:ext cx="5067300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调用方依赖统一Strategy契约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只准备输入并使用结果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72F1ED-80CA-4AC3-870B-29768BC0BA50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3061BA-98A2-464C-9F4B-66191694BEE7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BD07F6-D80A-433D-91A3-03F680AA3178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Strategy通过组合把可变算法从Context中移出。</a:t>
            </a:r>
          </a:p>
        </p:txBody>
      </p:sp>
    </p:spTree>
    <p:extLst>
      <p:ext uri="{BB962C8B-B14F-4D97-AF65-F5344CB8AC3E}">
        <p14:creationId xmlns:p14="http://schemas.microsoft.com/office/powerpoint/2010/main" val="1780143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449714E-8F8E-4AC9-8965-82DE669642D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一 / 策略模式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481A09-5525-4476-8E1E-DC71F5ABB0A6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11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061A8A-4448-4695-8833-6E5148FE3C7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策略模式的角色与案例对应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CA44F4-BFAF-462E-AD02-65200169EAAA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Strategy 策略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405824-EF52-4573-B2E2-7D5A2B8ED04C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ShippingStrategy</a:t>
            </a:r>
          </a:p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声明共享操作 calculate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A4C5F8B-2635-42BC-8764-46F284E82659}"/>
              </a:ext>
            </a:extLst>
          </p:cNvPr>
          <p:cNvSpPr>
            <a:spLocks noGrp="1"/>
          </p:cNvSpPr>
          <p:nvPr/>
        </p:nvSpPr>
        <p:spPr>
          <a:xfrm>
            <a:off x="6515100" y="1762125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ConcreteStrategy 具体策略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840B06-E20C-4A3D-AC2C-F0D5049757D4}"/>
              </a:ext>
            </a:extLst>
          </p:cNvPr>
          <p:cNvSpPr>
            <a:spLocks noGrp="1"/>
          </p:cNvSpPr>
          <p:nvPr/>
        </p:nvSpPr>
        <p:spPr>
          <a:xfrm>
            <a:off x="6515100" y="249555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StandardShipping / ExpressShipping</a:t>
            </a:r>
          </a:p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各自实现完整的费用算法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E658E5-2398-4125-86A3-0FE77260D23E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Context 上下文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5F7CD1-C919-44DF-9A41-A999DB9FFA13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CheckoutService</a:t>
            </a:r>
          </a:p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持有策略接口并调用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AF3CBD-D220-4300-B36D-1C3619362992}"/>
              </a:ext>
            </a:extLst>
          </p:cNvPr>
          <p:cNvSpPr>
            <a:spLocks noGrp="1"/>
          </p:cNvSpPr>
          <p:nvPr/>
        </p:nvSpPr>
        <p:spPr>
          <a:xfrm>
            <a:off x="6515100" y="3905250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Client 客户端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3D4D34-FB3A-422F-BF4A-83993F580359}"/>
              </a:ext>
            </a:extLst>
          </p:cNvPr>
          <p:cNvSpPr>
            <a:spLocks noGrp="1"/>
          </p:cNvSpPr>
          <p:nvPr/>
        </p:nvSpPr>
        <p:spPr>
          <a:xfrm>
            <a:off x="6515100" y="4638675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ShippingDemo</a:t>
            </a:r>
          </a:p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选择并传入具体策略对象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C493B8-85F2-4C52-9679-2EA396311509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2B2B3A-6158-4D92-BC79-D93F5027666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30436D1-8367-4BDA-AF32-D386A5893D93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客户端选择策略，上下文调用接口，具体策略完成算法。</a:t>
            </a:r>
          </a:p>
        </p:txBody>
      </p:sp>
    </p:spTree>
    <p:extLst>
      <p:ext uri="{BB962C8B-B14F-4D97-AF65-F5344CB8AC3E}">
        <p14:creationId xmlns:p14="http://schemas.microsoft.com/office/powerpoint/2010/main" val="2035269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连接符: 肘形 34"/>
          <p:cNvCxnSpPr>
            <a:stCxn id="16" idx="0"/>
            <a:endCxn id="8" idx="2"/>
          </p:cNvCxnSpPr>
          <p:nvPr/>
        </p:nvCxnSpPr>
        <p:spPr>
          <a:xfrm flipH="1" flipV="1">
            <a:off x="9191625" y="3190875"/>
            <a:ext cx="666750" cy="10001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3E56"/>
            </a:solidFill>
            <a:prstDash val="dash"/>
          </a:ln>
        </p:spPr>
      </p:cxnSp>
      <p:cxnSp>
        <p:nvCxnSpPr>
          <p:cNvPr id="36" name="连接符: 肘形 35"/>
          <p:cNvCxnSpPr>
            <a:stCxn id="12" idx="0"/>
            <a:endCxn id="8" idx="2"/>
          </p:cNvCxnSpPr>
          <p:nvPr/>
        </p:nvCxnSpPr>
        <p:spPr>
          <a:xfrm flipV="1">
            <a:off x="6096000" y="3190875"/>
            <a:ext cx="3095625" cy="10001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73E56"/>
            </a:solidFill>
            <a:prstDash val="dash"/>
          </a:ln>
        </p:spPr>
      </p:cxnSp>
      <p:cxnSp>
        <p:nvCxnSpPr>
          <p:cNvPr id="37" name="直接箭头连接符 36"/>
          <p:cNvCxnSpPr>
            <a:stCxn id="4" idx="3"/>
            <a:endCxn id="8" idx="1"/>
          </p:cNvCxnSpPr>
          <p:nvPr/>
        </p:nvCxnSpPr>
        <p:spPr>
          <a:xfrm flipV="1">
            <a:off x="4143375" y="2452688"/>
            <a:ext cx="2714625" cy="785813"/>
          </a:xfrm>
          <a:prstGeom prst="straightConnector1">
            <a:avLst/>
          </a:prstGeom>
          <a:ln w="19050">
            <a:solidFill>
              <a:srgbClr val="173E56"/>
            </a:solidFill>
            <a:prstDash val="solid"/>
            <a:tailEnd type="arrow" w="med" len="med"/>
          </a:ln>
        </p:spPr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3BAF8360-143F-4808-9A35-E698F6B0485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一 / 策略模式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6E0BF7-B2EB-42B6-B1DA-FDFF00BA6DA3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12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DEF6FA-3078-4321-8552-E06F8E5B345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策略模式：标准UML类图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C48024-001E-4389-B2E2-398387A43BD3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3476625" cy="1714500"/>
          </a:xfrm>
          <a:prstGeom prst="rect">
            <a:avLst/>
          </a:prstGeom>
          <a:solidFill>
            <a:srgbClr val="FAFCFC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86A8E7-BD82-499A-B186-A6CDE231DF83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3476625" cy="552450"/>
          </a:xfrm>
          <a:prstGeom prst="rect">
            <a:avLst/>
          </a:prstGeom>
          <a:solidFill>
            <a:srgbClr val="EAF2F4"/>
          </a:solidFill>
          <a:ln w="9525">
            <a:solidFill>
              <a:srgbClr val="CCD7DB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643F2B-706A-42F9-A05B-49425F81C798}"/>
              </a:ext>
            </a:extLst>
          </p:cNvPr>
          <p:cNvSpPr>
            <a:spLocks noGrp="1"/>
          </p:cNvSpPr>
          <p:nvPr/>
        </p:nvSpPr>
        <p:spPr>
          <a:xfrm>
            <a:off x="762000" y="2419350"/>
            <a:ext cx="3286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«Context»</a:t>
            </a:r>
          </a:p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CheckoutService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D937BD-C68B-468F-8F75-2D2C27D79AA3}"/>
              </a:ext>
            </a:extLst>
          </p:cNvPr>
          <p:cNvSpPr>
            <a:spLocks noGrp="1"/>
          </p:cNvSpPr>
          <p:nvPr/>
        </p:nvSpPr>
        <p:spPr>
          <a:xfrm>
            <a:off x="819150" y="3048000"/>
            <a:ext cx="3171825" cy="933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5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- shipping: ShippingStrategy</a:t>
            </a:r>
          </a:p>
          <a:p>
            <a:pPr algn="l">
              <a:buNone/>
              <a:defRPr sz="15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+ quote(order): Quote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458CF-CDDF-4A5E-9A10-1A8783C7C24E}"/>
              </a:ext>
            </a:extLst>
          </p:cNvPr>
          <p:cNvSpPr>
            <a:spLocks noGrp="1"/>
          </p:cNvSpPr>
          <p:nvPr/>
        </p:nvSpPr>
        <p:spPr>
          <a:xfrm>
            <a:off x="6858000" y="1714500"/>
            <a:ext cx="4667250" cy="1476375"/>
          </a:xfrm>
          <a:prstGeom prst="rect">
            <a:avLst/>
          </a:prstGeom>
          <a:solidFill>
            <a:srgbClr val="FAFCFC"/>
          </a:solidFill>
          <a:ln w="9525">
            <a:solidFill>
              <a:srgbClr val="CCD7DB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52F8CE-627A-4DD2-98A2-6B2BB32D353A}"/>
              </a:ext>
            </a:extLst>
          </p:cNvPr>
          <p:cNvSpPr>
            <a:spLocks noGrp="1"/>
          </p:cNvSpPr>
          <p:nvPr/>
        </p:nvSpPr>
        <p:spPr>
          <a:xfrm>
            <a:off x="6858000" y="1714500"/>
            <a:ext cx="4667250" cy="552450"/>
          </a:xfrm>
          <a:prstGeom prst="rect">
            <a:avLst/>
          </a:prstGeom>
          <a:solidFill>
            <a:srgbClr val="EAF2F4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0AE6B8-FD18-4EF7-9BC8-44892E2A463D}"/>
              </a:ext>
            </a:extLst>
          </p:cNvPr>
          <p:cNvSpPr>
            <a:spLocks noGrp="1"/>
          </p:cNvSpPr>
          <p:nvPr/>
        </p:nvSpPr>
        <p:spPr>
          <a:xfrm>
            <a:off x="6953250" y="1752600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«interface»</a:t>
            </a:r>
          </a:p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ShippingStrategy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2D10C2-8D1C-4315-85E2-95EAB1762ED9}"/>
              </a:ext>
            </a:extLst>
          </p:cNvPr>
          <p:cNvSpPr>
            <a:spLocks noGrp="1"/>
          </p:cNvSpPr>
          <p:nvPr/>
        </p:nvSpPr>
        <p:spPr>
          <a:xfrm>
            <a:off x="7010400" y="2381250"/>
            <a:ext cx="4362450" cy="695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5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+ calculate(order)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E3FE79-B5C3-4668-947F-81BEB3937DB7}"/>
              </a:ext>
            </a:extLst>
          </p:cNvPr>
          <p:cNvSpPr>
            <a:spLocks noGrp="1"/>
          </p:cNvSpPr>
          <p:nvPr/>
        </p:nvSpPr>
        <p:spPr>
          <a:xfrm>
            <a:off x="4381500" y="4191000"/>
            <a:ext cx="3429000" cy="1381125"/>
          </a:xfrm>
          <a:prstGeom prst="rect">
            <a:avLst/>
          </a:prstGeom>
          <a:solidFill>
            <a:srgbClr val="FAFCFC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B4B939A-00D1-4AB1-962D-2812DF9670B2}"/>
              </a:ext>
            </a:extLst>
          </p:cNvPr>
          <p:cNvSpPr>
            <a:spLocks noGrp="1"/>
          </p:cNvSpPr>
          <p:nvPr/>
        </p:nvSpPr>
        <p:spPr>
          <a:xfrm>
            <a:off x="4381500" y="4191000"/>
            <a:ext cx="3429000" cy="552450"/>
          </a:xfrm>
          <a:prstGeom prst="rect">
            <a:avLst/>
          </a:prstGeom>
          <a:solidFill>
            <a:srgbClr val="EAF2F4"/>
          </a:solidFill>
          <a:ln w="9525">
            <a:solidFill>
              <a:srgbClr val="CCD7DB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E62AFE-1D97-421A-B4CB-3C80E5069EF4}"/>
              </a:ext>
            </a:extLst>
          </p:cNvPr>
          <p:cNvSpPr>
            <a:spLocks noGrp="1"/>
          </p:cNvSpPr>
          <p:nvPr/>
        </p:nvSpPr>
        <p:spPr>
          <a:xfrm>
            <a:off x="4476750" y="4229100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«ConcreteStrategy»</a:t>
            </a:r>
          </a:p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StandardShipping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DBC0A8-36E3-41D4-97F5-660136183DFF}"/>
              </a:ext>
            </a:extLst>
          </p:cNvPr>
          <p:cNvSpPr>
            <a:spLocks noGrp="1"/>
          </p:cNvSpPr>
          <p:nvPr/>
        </p:nvSpPr>
        <p:spPr>
          <a:xfrm>
            <a:off x="4533900" y="4857750"/>
            <a:ext cx="3124200" cy="600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5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+ calculate(order)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9546635-1229-4601-9AEB-B68DE75F00F5}"/>
              </a:ext>
            </a:extLst>
          </p:cNvPr>
          <p:cNvSpPr>
            <a:spLocks noGrp="1"/>
          </p:cNvSpPr>
          <p:nvPr/>
        </p:nvSpPr>
        <p:spPr>
          <a:xfrm>
            <a:off x="8191500" y="4191000"/>
            <a:ext cx="3333750" cy="1381125"/>
          </a:xfrm>
          <a:prstGeom prst="rect">
            <a:avLst/>
          </a:prstGeom>
          <a:solidFill>
            <a:srgbClr val="FAFCFC"/>
          </a:solidFill>
          <a:ln w="9525">
            <a:solidFill>
              <a:srgbClr val="CCD7DB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346749-A18E-42E7-9B79-AA6771E422FB}"/>
              </a:ext>
            </a:extLst>
          </p:cNvPr>
          <p:cNvSpPr>
            <a:spLocks noGrp="1"/>
          </p:cNvSpPr>
          <p:nvPr/>
        </p:nvSpPr>
        <p:spPr>
          <a:xfrm>
            <a:off x="8191500" y="4191000"/>
            <a:ext cx="3333750" cy="552450"/>
          </a:xfrm>
          <a:prstGeom prst="rect">
            <a:avLst/>
          </a:prstGeom>
          <a:solidFill>
            <a:srgbClr val="EAF2F4"/>
          </a:solidFill>
          <a:ln w="9525">
            <a:solidFill>
              <a:srgbClr val="CCD7DB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D3DE28-FAA2-404D-800B-685824AF6CFA}"/>
              </a:ext>
            </a:extLst>
          </p:cNvPr>
          <p:cNvSpPr>
            <a:spLocks noGrp="1"/>
          </p:cNvSpPr>
          <p:nvPr/>
        </p:nvSpPr>
        <p:spPr>
          <a:xfrm>
            <a:off x="8286750" y="4229100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«ConcreteStrategy»</a:t>
            </a:r>
          </a:p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ExpressShipping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B614E7-F296-406F-999F-0B400339E666}"/>
              </a:ext>
            </a:extLst>
          </p:cNvPr>
          <p:cNvSpPr>
            <a:spLocks noGrp="1"/>
          </p:cNvSpPr>
          <p:nvPr/>
        </p:nvSpPr>
        <p:spPr>
          <a:xfrm>
            <a:off x="8343900" y="4857750"/>
            <a:ext cx="3028950" cy="6000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5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+ calculate(order)</a:t>
            </a:r>
          </a:p>
        </p:txBody>
      </p:sp>
      <p:sp>
        <p:nvSpPr>
          <p:cNvPr id="22" name="等腰三角形 21">
            <a:extLst>
              <a:ext uri="{FF2B5EF4-FFF2-40B4-BE49-F238E27FC236}">
                <a16:creationId xmlns:a16="http://schemas.microsoft.com/office/drawing/2014/main" id="{EA1BC4D8-F9AA-48EA-B61E-1CFEAFDEFD05}"/>
              </a:ext>
            </a:extLst>
          </p:cNvPr>
          <p:cNvSpPr>
            <a:spLocks noGrp="1"/>
          </p:cNvSpPr>
          <p:nvPr/>
        </p:nvSpPr>
        <p:spPr>
          <a:xfrm>
            <a:off x="9077325" y="3190875"/>
            <a:ext cx="228600" cy="190500"/>
          </a:xfrm>
          <a:prstGeom prst="triangle">
            <a:avLst/>
          </a:prstGeom>
          <a:solidFill>
            <a:srgbClr val="FAFCFC"/>
          </a:solidFill>
          <a:ln w="19050">
            <a:solidFill>
              <a:srgbClr val="173E56"/>
            </a:solidFill>
          </a:ln>
        </p:spPr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78D3DC05-BBFA-474D-9032-62DC19C628F5}"/>
              </a:ext>
            </a:extLst>
          </p:cNvPr>
          <p:cNvSpPr>
            <a:spLocks noGrp="1"/>
          </p:cNvSpPr>
          <p:nvPr/>
        </p:nvSpPr>
        <p:spPr>
          <a:xfrm>
            <a:off x="9077325" y="3190875"/>
            <a:ext cx="228600" cy="190500"/>
          </a:xfrm>
          <a:prstGeom prst="triangle">
            <a:avLst/>
          </a:prstGeom>
          <a:solidFill>
            <a:srgbClr val="FAFCFC"/>
          </a:solidFill>
          <a:ln w="19050">
            <a:solidFill>
              <a:srgbClr val="173E56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104D2F0-A574-494D-ABA8-9650DF898DC1}"/>
              </a:ext>
            </a:extLst>
          </p:cNvPr>
          <p:cNvSpPr>
            <a:spLocks noGrp="1"/>
          </p:cNvSpPr>
          <p:nvPr/>
        </p:nvSpPr>
        <p:spPr>
          <a:xfrm>
            <a:off x="4524375" y="2143125"/>
            <a:ext cx="1619250" cy="28575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持有并调用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A9F557-F4B8-4E5B-9303-AECFFB285FD6}"/>
              </a:ext>
            </a:extLst>
          </p:cNvPr>
          <p:cNvSpPr>
            <a:spLocks noGrp="1"/>
          </p:cNvSpPr>
          <p:nvPr/>
        </p:nvSpPr>
        <p:spPr>
          <a:xfrm>
            <a:off x="5810250" y="3619500"/>
            <a:ext cx="857250" cy="2667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4FC897A-4AC5-426D-803F-89612CBF0606}"/>
              </a:ext>
            </a:extLst>
          </p:cNvPr>
          <p:cNvSpPr>
            <a:spLocks noGrp="1"/>
          </p:cNvSpPr>
          <p:nvPr/>
        </p:nvSpPr>
        <p:spPr>
          <a:xfrm>
            <a:off x="9477375" y="3619500"/>
            <a:ext cx="857250" cy="2667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ED6D636-93FC-4710-8908-ECE2E628F266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2AC0ED0-B5D4-48DF-9EB4-CEF4E481C7B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02FD4F6-5117-4034-BEEF-3D2BB286631E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实线表示持有并调用；虚线空心三角表示实现接口。</a:t>
            </a:r>
          </a:p>
        </p:txBody>
      </p:sp>
    </p:spTree>
    <p:extLst>
      <p:ext uri="{BB962C8B-B14F-4D97-AF65-F5344CB8AC3E}">
        <p14:creationId xmlns:p14="http://schemas.microsoft.com/office/powerpoint/2010/main" val="791947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D41D02F5-FBA9-4518-A200-0CF8A2FA22A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一 / 策略模式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182734-262E-4CA7-AFD5-FF57E1BEBF9B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13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DDFC77-286B-4C27-A49E-E35453660F9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策略模式：一次加急配送报价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84FCDC0-5F74-46AB-9DD7-E698E0F8D9A6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2628900" cy="571500"/>
          </a:xfrm>
          <a:prstGeom prst="roundRect">
            <a:avLst>
              <a:gd name="adj" fmla="val 13333"/>
            </a:avLst>
          </a:prstGeom>
          <a:solidFill>
            <a:srgbClr val="EAF2F9"/>
          </a:solidFill>
          <a:ln w="9525">
            <a:solidFill>
              <a:srgbClr val="173E5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1DD07D-A7F4-4856-B93C-9E97C6C0E774}"/>
              </a:ext>
            </a:extLst>
          </p:cNvPr>
          <p:cNvSpPr>
            <a:spLocks noGrp="1"/>
          </p:cNvSpPr>
          <p:nvPr/>
        </p:nvSpPr>
        <p:spPr>
          <a:xfrm>
            <a:off x="704850" y="1676400"/>
            <a:ext cx="24384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Client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5469F0B9-8B5D-4CE5-85C6-6806081472C4}"/>
              </a:ext>
            </a:extLst>
          </p:cNvPr>
          <p:cNvSpPr>
            <a:spLocks noGrp="1"/>
          </p:cNvSpPr>
          <p:nvPr/>
        </p:nvSpPr>
        <p:spPr>
          <a:xfrm>
            <a:off x="1924050" y="2209800"/>
            <a:ext cx="0" cy="3429000"/>
          </a:xfrm>
          <a:prstGeom prst="line">
            <a:avLst/>
          </a:prstGeom>
          <a:noFill/>
          <a:ln w="9525">
            <a:solidFill>
              <a:srgbClr val="9AA8B5"/>
            </a:solidFill>
            <a:prstDash val="dash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326C234-60D9-4E6F-AC9B-18D7FD82E9B6}"/>
              </a:ext>
            </a:extLst>
          </p:cNvPr>
          <p:cNvSpPr>
            <a:spLocks noGrp="1"/>
          </p:cNvSpPr>
          <p:nvPr/>
        </p:nvSpPr>
        <p:spPr>
          <a:xfrm>
            <a:off x="4781550" y="1638300"/>
            <a:ext cx="2628900" cy="571500"/>
          </a:xfrm>
          <a:prstGeom prst="roundRect">
            <a:avLst>
              <a:gd name="adj" fmla="val 13333"/>
            </a:avLst>
          </a:prstGeom>
          <a:solidFill>
            <a:srgbClr val="EAF5EF"/>
          </a:solidFill>
          <a:ln w="9525">
            <a:solidFill>
              <a:srgbClr val="15776E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38141C-731E-4268-84EB-0FCE4EA07A4F}"/>
              </a:ext>
            </a:extLst>
          </p:cNvPr>
          <p:cNvSpPr>
            <a:spLocks noGrp="1"/>
          </p:cNvSpPr>
          <p:nvPr/>
        </p:nvSpPr>
        <p:spPr>
          <a:xfrm>
            <a:off x="4876800" y="1676400"/>
            <a:ext cx="24384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CheckoutService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D982EA3E-6CEE-44EB-9028-F5693C4D4D11}"/>
              </a:ext>
            </a:extLst>
          </p:cNvPr>
          <p:cNvSpPr>
            <a:spLocks noGrp="1"/>
          </p:cNvSpPr>
          <p:nvPr/>
        </p:nvSpPr>
        <p:spPr>
          <a:xfrm>
            <a:off x="6096000" y="2209800"/>
            <a:ext cx="0" cy="3429000"/>
          </a:xfrm>
          <a:prstGeom prst="line">
            <a:avLst/>
          </a:prstGeom>
          <a:noFill/>
          <a:ln w="9525">
            <a:solidFill>
              <a:srgbClr val="9AA8B5"/>
            </a:solidFill>
            <a:prstDash val="dash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438681B-6854-4578-B039-F9BEF19AE135}"/>
              </a:ext>
            </a:extLst>
          </p:cNvPr>
          <p:cNvSpPr>
            <a:spLocks noGrp="1"/>
          </p:cNvSpPr>
          <p:nvPr/>
        </p:nvSpPr>
        <p:spPr>
          <a:xfrm>
            <a:off x="8953500" y="1638300"/>
            <a:ext cx="2628900" cy="571500"/>
          </a:xfrm>
          <a:prstGeom prst="roundRect">
            <a:avLst>
              <a:gd name="adj" fmla="val 13333"/>
            </a:avLst>
          </a:prstGeom>
          <a:solidFill>
            <a:srgbClr val="EAF5EF"/>
          </a:solidFill>
          <a:ln w="9525">
            <a:solidFill>
              <a:srgbClr val="15776E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F28BAF-0A62-4F0F-8B3C-5C4CCC4D67C4}"/>
              </a:ext>
            </a:extLst>
          </p:cNvPr>
          <p:cNvSpPr>
            <a:spLocks noGrp="1"/>
          </p:cNvSpPr>
          <p:nvPr/>
        </p:nvSpPr>
        <p:spPr>
          <a:xfrm>
            <a:off x="9048750" y="1676400"/>
            <a:ext cx="24384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ExpressShipping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898174D5-C07B-4F3D-9F8A-7B7855D50933}"/>
              </a:ext>
            </a:extLst>
          </p:cNvPr>
          <p:cNvSpPr>
            <a:spLocks noGrp="1"/>
          </p:cNvSpPr>
          <p:nvPr/>
        </p:nvSpPr>
        <p:spPr>
          <a:xfrm>
            <a:off x="10267950" y="2209800"/>
            <a:ext cx="0" cy="3429000"/>
          </a:xfrm>
          <a:prstGeom prst="line">
            <a:avLst/>
          </a:prstGeom>
          <a:noFill/>
          <a:ln w="9525">
            <a:solidFill>
              <a:srgbClr val="9AA8B5"/>
            </a:solidFill>
            <a:prstDash val="dash"/>
          </a:ln>
        </p:spPr>
      </p:sp>
      <p:cxnSp>
        <p:nvCxnSpPr>
          <p:cNvPr id="55" name="直接箭头连接符 54"/>
          <p:cNvCxnSpPr/>
          <p:nvPr/>
        </p:nvCxnSpPr>
        <p:spPr>
          <a:xfrm>
            <a:off x="1924050" y="2667000"/>
            <a:ext cx="4171950" cy="0"/>
          </a:xfrm>
          <a:prstGeom prst="straightConnector1">
            <a:avLst/>
          </a:prstGeom>
          <a:ln w="19050">
            <a:solidFill>
              <a:srgbClr val="173E56"/>
            </a:solidFill>
            <a:prstDash val="solid"/>
            <a:tailEnd type="arrow" w="med" len="med"/>
          </a:ln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4B2EE20E-94C4-4E78-AB6D-7BFD4AE9CCE8}"/>
              </a:ext>
            </a:extLst>
          </p:cNvPr>
          <p:cNvSpPr>
            <a:spLocks noGrp="1"/>
          </p:cNvSpPr>
          <p:nvPr/>
        </p:nvSpPr>
        <p:spPr>
          <a:xfrm>
            <a:off x="2019300" y="2343150"/>
            <a:ext cx="3981450" cy="3048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1. quote(order)</a:t>
            </a:r>
          </a:p>
        </p:txBody>
      </p:sp>
      <p:cxnSp>
        <p:nvCxnSpPr>
          <p:cNvPr id="57" name="直接箭头连接符 56"/>
          <p:cNvCxnSpPr/>
          <p:nvPr/>
        </p:nvCxnSpPr>
        <p:spPr>
          <a:xfrm>
            <a:off x="6096000" y="3286125"/>
            <a:ext cx="4171950" cy="0"/>
          </a:xfrm>
          <a:prstGeom prst="straightConnector1">
            <a:avLst/>
          </a:prstGeom>
          <a:ln w="19050">
            <a:solidFill>
              <a:srgbClr val="173E56"/>
            </a:solidFill>
            <a:prstDash val="solid"/>
            <a:tailEnd type="arrow" w="med" len="med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67D82F1-FDA1-4BB8-A94D-05C1EA987922}"/>
              </a:ext>
            </a:extLst>
          </p:cNvPr>
          <p:cNvSpPr>
            <a:spLocks noGrp="1"/>
          </p:cNvSpPr>
          <p:nvPr/>
        </p:nvSpPr>
        <p:spPr>
          <a:xfrm>
            <a:off x="6191250" y="2962275"/>
            <a:ext cx="3981450" cy="3048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2. calculate(order)</a:t>
            </a:r>
          </a:p>
        </p:txBody>
      </p:sp>
      <p:cxnSp>
        <p:nvCxnSpPr>
          <p:cNvPr id="59" name="直接箭头连接符 58"/>
          <p:cNvCxnSpPr/>
          <p:nvPr/>
        </p:nvCxnSpPr>
        <p:spPr>
          <a:xfrm>
            <a:off x="6096000" y="3905250"/>
            <a:ext cx="4171950" cy="0"/>
          </a:xfrm>
          <a:prstGeom prst="straightConnector1">
            <a:avLst/>
          </a:prstGeom>
          <a:ln w="19050">
            <a:solidFill>
              <a:srgbClr val="6D7C85"/>
            </a:solidFill>
            <a:prstDash val="dash"/>
            <a:headEnd type="arrow" w="med" len="med"/>
          </a:ln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9F3D4BD-74E9-415C-971B-630857FD0E6B}"/>
              </a:ext>
            </a:extLst>
          </p:cNvPr>
          <p:cNvSpPr>
            <a:spLocks noGrp="1"/>
          </p:cNvSpPr>
          <p:nvPr/>
        </p:nvSpPr>
        <p:spPr>
          <a:xfrm>
            <a:off x="6191250" y="3581400"/>
            <a:ext cx="3981450" cy="3048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3. Money fee</a:t>
            </a:r>
          </a:p>
        </p:txBody>
      </p:sp>
      <p:cxnSp>
        <p:nvCxnSpPr>
          <p:cNvPr id="61" name="直接箭头连接符 60"/>
          <p:cNvCxnSpPr/>
          <p:nvPr/>
        </p:nvCxnSpPr>
        <p:spPr>
          <a:xfrm>
            <a:off x="1924050" y="4524375"/>
            <a:ext cx="4171950" cy="0"/>
          </a:xfrm>
          <a:prstGeom prst="straightConnector1">
            <a:avLst/>
          </a:prstGeom>
          <a:ln w="19050">
            <a:solidFill>
              <a:srgbClr val="6D7C85"/>
            </a:solidFill>
            <a:prstDash val="dash"/>
            <a:headEnd type="arrow" w="med" len="med"/>
          </a:ln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E9D23B82-3637-4223-8335-FC4AF1FD1510}"/>
              </a:ext>
            </a:extLst>
          </p:cNvPr>
          <p:cNvSpPr>
            <a:spLocks noGrp="1"/>
          </p:cNvSpPr>
          <p:nvPr/>
        </p:nvSpPr>
        <p:spPr>
          <a:xfrm>
            <a:off x="2019300" y="4200525"/>
            <a:ext cx="3981450" cy="3048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4. Quote(goods, fee)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4D286B-8AC3-4F95-8276-CCACEE70622D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92EF03E-A2EF-4DCB-8D6E-B3132C48286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A2C980-30D4-4018-A4A3-64094CB6D080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接口引用指向实际策略对象，由该对象完成费用计算。</a:t>
            </a:r>
          </a:p>
        </p:txBody>
      </p:sp>
    </p:spTree>
    <p:extLst>
      <p:ext uri="{BB962C8B-B14F-4D97-AF65-F5344CB8AC3E}">
        <p14:creationId xmlns:p14="http://schemas.microsoft.com/office/powerpoint/2010/main" val="1929476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C877806A-3066-4C72-B520-DCEF289914E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一 / 策略模式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59B1BB4-F316-4727-B4D6-0586173B0B96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14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8169F4-176D-4CE5-9929-2D956136F46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策略模式接口只表达共同目标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4FCD7C-9AB5-4EFD-B534-8F28245611E3}"/>
              </a:ext>
            </a:extLst>
          </p:cNvPr>
          <p:cNvSpPr>
            <a:spLocks noGrp="1"/>
          </p:cNvSpPr>
          <p:nvPr/>
        </p:nvSpPr>
        <p:spPr>
          <a:xfrm>
            <a:off x="8467725" y="1676400"/>
            <a:ext cx="9525" cy="3905250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AFB93C-2FAA-44EF-AA04-BBC70B0085C0}"/>
              </a:ext>
            </a:extLst>
          </p:cNvPr>
          <p:cNvSpPr>
            <a:spLocks noGrp="1"/>
          </p:cNvSpPr>
          <p:nvPr/>
        </p:nvSpPr>
        <p:spPr>
          <a:xfrm>
            <a:off x="609600" y="3214688"/>
            <a:ext cx="7572375" cy="971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public interface ShippingStrategy {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Money calculate(Order order);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90778E-AB67-4E12-AA77-81EA19FED68F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接口保持窄而稳定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737B95-1E5A-4FA4-930D-27A662E888FD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不暴露算法选择逻辑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352F86-F76E-4148-83B8-6622BF00F1F2}"/>
              </a:ext>
            </a:extLst>
          </p:cNvPr>
          <p:cNvSpPr>
            <a:spLocks noGrp="1"/>
          </p:cNvSpPr>
          <p:nvPr/>
        </p:nvSpPr>
        <p:spPr>
          <a:xfrm>
            <a:off x="8763000" y="36766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不依赖订单保存与通知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8C04404-F47E-481D-91BF-147CE14116B7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231723-043E-477F-8D80-9662BCF173E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39C325-70F5-4327-B5FD-A0700B205EFE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ShippingStrategy只约定输入订单、输出运费。</a:t>
            </a:r>
          </a:p>
        </p:txBody>
      </p:sp>
    </p:spTree>
    <p:extLst>
      <p:ext uri="{BB962C8B-B14F-4D97-AF65-F5344CB8AC3E}">
        <p14:creationId xmlns:p14="http://schemas.microsoft.com/office/powerpoint/2010/main" val="554873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DE030D7-65F6-40E0-9CD1-84B9742D519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一 / 策略模式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CAA7E3C-4117-4109-8C41-BFD9CD8FD5C3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15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1E8028-915E-449D-93FB-04244CFDB1E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具体策略封装一套完整算法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140AD9-845C-4600-876B-0F3B1384AD40}"/>
              </a:ext>
            </a:extLst>
          </p:cNvPr>
          <p:cNvSpPr>
            <a:spLocks noGrp="1"/>
          </p:cNvSpPr>
          <p:nvPr/>
        </p:nvSpPr>
        <p:spPr>
          <a:xfrm>
            <a:off x="8467725" y="1676400"/>
            <a:ext cx="9525" cy="3905250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20BA01-4A12-4D2B-A519-144572703C20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7572375" cy="2667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public final class ExpressShipping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implements ShippingStrategy {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public Money calculate(Order order) {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Money fee = Money.of(18)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    .add(order.weightFee(2.5));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return order.coldChain()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    ? fee.add(Money.of(12)) : fee;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97904E-2DD3-4A3E-9840-EEFE098F3799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算法内部仍可有条件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BF2BBD-24B1-41CE-A1AC-090EEB8FD417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边界测试集中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89A942-8835-43D8-98C0-A3151E8A220D}"/>
              </a:ext>
            </a:extLst>
          </p:cNvPr>
          <p:cNvSpPr>
            <a:spLocks noGrp="1"/>
          </p:cNvSpPr>
          <p:nvPr/>
        </p:nvSpPr>
        <p:spPr>
          <a:xfrm>
            <a:off x="8763000" y="36766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修改不会触碰其他策略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0F079F-DE31-4164-8BB0-4ACFB0DC3E5D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DBEB79-DAC5-45E1-AF4D-9A683559650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3578070-DD93-4DF1-AF3E-918AA2E99C7D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加急配送：基础费18元，每千克2.5元；冷链另加12元。</a:t>
            </a:r>
          </a:p>
        </p:txBody>
      </p:sp>
    </p:spTree>
    <p:extLst>
      <p:ext uri="{BB962C8B-B14F-4D97-AF65-F5344CB8AC3E}">
        <p14:creationId xmlns:p14="http://schemas.microsoft.com/office/powerpoint/2010/main" val="1348801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F30DE37-F739-4318-99C9-A31C4E11A99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一 / 策略模式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92ED1B-5BF6-406F-AF60-3361D31C70FE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16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102099-C4E7-435E-9951-D58409907E6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结算服务只使用策略接口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9773BB-949C-456A-B4A8-8FB20BB8FD10}"/>
              </a:ext>
            </a:extLst>
          </p:cNvPr>
          <p:cNvSpPr>
            <a:spLocks noGrp="1"/>
          </p:cNvSpPr>
          <p:nvPr/>
        </p:nvSpPr>
        <p:spPr>
          <a:xfrm>
            <a:off x="8467725" y="1676400"/>
            <a:ext cx="9525" cy="3905250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99DF16-53B5-4731-8DC2-B12AABF9EC21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7572375" cy="2352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public final class CheckoutService {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private final ShippingStrategy shipping;</a:t>
            </a:r>
          </a:p>
          <a:p>
            <a:endParaRPr sz="1800" b="0">
              <a:solidFill>
                <a:srgbClr val="263642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public Quote quote(Order order) {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Money fee = shipping.calculate(order);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return new Quote(order.goodsTotal(), fee);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88A0A6-7968-4E04-84E9-23A05B89A5A2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只依赖策略接口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7D4C5-04F3-4576-BF69-3788226038BA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依赖通过构造传入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0844A8-4227-4EAF-B6AC-CC38B8EEC64C}"/>
              </a:ext>
            </a:extLst>
          </p:cNvPr>
          <p:cNvSpPr>
            <a:spLocks noGrp="1"/>
          </p:cNvSpPr>
          <p:nvPr/>
        </p:nvSpPr>
        <p:spPr>
          <a:xfrm>
            <a:off x="8763000" y="36766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由具体对象执行算法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8324F7-288D-45AC-BEA5-6F772F082A34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769754-C557-4943-92AD-111459BFAE5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50B68E-C545-4D91-B1D9-FF5D915BE9CC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CheckoutService通过构造器接收ShippingStrategy，并在quote中调用它。</a:t>
            </a:r>
          </a:p>
        </p:txBody>
      </p:sp>
    </p:spTree>
    <p:extLst>
      <p:ext uri="{BB962C8B-B14F-4D97-AF65-F5344CB8AC3E}">
        <p14:creationId xmlns:p14="http://schemas.microsoft.com/office/powerpoint/2010/main" val="1094334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F6B2B04-E4DD-40D8-BCE9-352FCC9386D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一 / 策略模式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AB307D-109A-444E-A9E6-4E9C7C0529E6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17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EDB858-4F3D-4D0D-9DF5-7123778F861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切换配送策略会发生什么？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04750C-A02B-48AF-853E-9D30EAD5D5E8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1DF810-76EE-41C9-8ADB-5F45F2C8D4D9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5095875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标准配送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AB3CE1-447E-4BE5-AEC1-2132F28981B8}"/>
              </a:ext>
            </a:extLst>
          </p:cNvPr>
          <p:cNvSpPr>
            <a:spLocks noGrp="1"/>
          </p:cNvSpPr>
          <p:nvPr/>
        </p:nvSpPr>
        <p:spPr>
          <a:xfrm>
            <a:off x="6515100" y="1819275"/>
            <a:ext cx="50673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加急配送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8F30FB-027A-4F6A-8BB6-7A31B757CF34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5095875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StandardShipping对象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同一订单：4千克、非冷链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8 + 4 × 1.2 = 12.80元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4248A0-E644-45FE-A59B-B6EAA8C8B1AF}"/>
              </a:ext>
            </a:extLst>
          </p:cNvPr>
          <p:cNvSpPr>
            <a:spLocks noGrp="1"/>
          </p:cNvSpPr>
          <p:nvPr/>
        </p:nvSpPr>
        <p:spPr>
          <a:xfrm>
            <a:off x="6515100" y="2952750"/>
            <a:ext cx="5067300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ExpressShipping对象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同一订单：4千克、非冷链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18 + 4 × 2.5 = 28.00元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C729E4-02D8-4447-9A48-B4608C027548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BCDFB59-36DD-4291-948B-434DC1999F6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19D1E5-68B3-47CF-AF11-030FB3D86102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ShippingDemo使用同一订单：商品金额200元、重量4千克、非冷链。</a:t>
            </a:r>
          </a:p>
        </p:txBody>
      </p:sp>
    </p:spTree>
    <p:extLst>
      <p:ext uri="{BB962C8B-B14F-4D97-AF65-F5344CB8AC3E}">
        <p14:creationId xmlns:p14="http://schemas.microsoft.com/office/powerpoint/2010/main" val="1644374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0CDD45F2-660E-4666-984E-2D709418DA0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一 / 策略模式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B17FE10-51AA-4BC0-BDD6-BDF6C88238A3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18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7ACC92-FE46-4331-8AEE-8BB7861E895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什么时候适合策略模式？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FF58D7-FDDB-4525-8196-D0613758491F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6B926F-13C5-42CC-9EB5-F2314CD893C6}"/>
              </a:ext>
            </a:extLst>
          </p:cNvPr>
          <p:cNvSpPr>
            <a:spLocks noGrp="1"/>
          </p:cNvSpPr>
          <p:nvPr/>
        </p:nvSpPr>
        <p:spPr>
          <a:xfrm>
            <a:off x="1476375" y="1695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存在多套完成同一目标的完整算法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1ADC7E-3A54-4EC8-9C85-7C2DDA0E4171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8A8790-3305-4DF9-851A-F68535C5475D}"/>
              </a:ext>
            </a:extLst>
          </p:cNvPr>
          <p:cNvSpPr>
            <a:spLocks noGrp="1"/>
          </p:cNvSpPr>
          <p:nvPr/>
        </p:nvSpPr>
        <p:spPr>
          <a:xfrm>
            <a:off x="1476375" y="2647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算法会独立增加、替换或测试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CE969C-19EB-492E-A283-E3F03A674B41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B5341F-2E5A-489A-ADF3-AF2CE63D709D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调用方不应依赖算法细节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35FA73-2536-4333-9889-DE9E7787C89F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EF71B3-DE8D-45E1-B0E6-9E7EA8E333C8}"/>
              </a:ext>
            </a:extLst>
          </p:cNvPr>
          <p:cNvSpPr>
            <a:spLocks noGrp="1"/>
          </p:cNvSpPr>
          <p:nvPr/>
        </p:nvSpPr>
        <p:spPr>
          <a:xfrm>
            <a:off x="1476375" y="4552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组合带来的对象数量成本可以接受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E6B1E4-58DF-47AF-AB6E-FAFDA5E6B94D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8DF4AF-49D4-48C1-906F-28E0C6D4DD2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EAE011-1FF9-4487-B732-8299525500F8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策略模式适合多个完整算法独立演化的场景。</a:t>
            </a:r>
          </a:p>
        </p:txBody>
      </p:sp>
    </p:spTree>
    <p:extLst>
      <p:ext uri="{BB962C8B-B14F-4D97-AF65-F5344CB8AC3E}">
        <p14:creationId xmlns:p14="http://schemas.microsoft.com/office/powerpoint/2010/main" val="1589899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1A13AB5-E15B-456A-80A7-DF870B6C426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一 / 策略模式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D87E57-D012-4F91-AA5A-D0252C29EFA0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19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5B038F-B185-4E7D-B46E-3950D86CBDC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策略模式的效果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56B9BC-30BF-4F5E-BFB5-B54655257170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D47C2C-5599-4DF8-80A0-4B00204458F1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5095875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2209A7-8428-4B8B-A020-A85365390DA5}"/>
              </a:ext>
            </a:extLst>
          </p:cNvPr>
          <p:cNvSpPr>
            <a:spLocks noGrp="1"/>
          </p:cNvSpPr>
          <p:nvPr/>
        </p:nvSpPr>
        <p:spPr>
          <a:xfrm>
            <a:off x="6515100" y="1819275"/>
            <a:ext cx="50673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2D5EC5-FDA5-4DEC-B58D-C9D1B9A3BB1C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5095875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隔离算法变化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支持运行时替换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每套算法独立测试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BB093-FB56-4D0A-ABDE-449E2AC1B793}"/>
              </a:ext>
            </a:extLst>
          </p:cNvPr>
          <p:cNvSpPr>
            <a:spLocks noGrp="1"/>
          </p:cNvSpPr>
          <p:nvPr/>
        </p:nvSpPr>
        <p:spPr>
          <a:xfrm>
            <a:off x="6515100" y="2952750"/>
            <a:ext cx="5067300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类与对象增加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Client需要了解可选策略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简单差异可能被过度抽象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38FD1F-4A00-42D2-B74A-CC2D5D9A7460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FEE6D14-EB6C-45FC-A0F7-E69313AF6EF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DB73D5-CB41-4467-BD96-C7D1934EB8DA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收益来自算法变化与调用协调分离，而不是来自类的数量。</a:t>
            </a:r>
          </a:p>
        </p:txBody>
      </p:sp>
    </p:spTree>
    <p:extLst>
      <p:ext uri="{BB962C8B-B14F-4D97-AF65-F5344CB8AC3E}">
        <p14:creationId xmlns:p14="http://schemas.microsoft.com/office/powerpoint/2010/main" val="1916160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9AAF622-FBD6-46F5-AD46-142C631D662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一 / 策略模式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AC590A-AF88-4E05-BCF2-927BBDC0C39F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20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6E3B20-0EE3-42EC-8143-60F2C3242E1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概念检查：是否需要策略模式？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1DB9FA-F9A8-4B8C-915F-5CE0ECCD7C1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3D93EE-BE2D-4371-81B4-35D541CD2E60}"/>
              </a:ext>
            </a:extLst>
          </p:cNvPr>
          <p:cNvSpPr>
            <a:spLocks noGrp="1"/>
          </p:cNvSpPr>
          <p:nvPr/>
        </p:nvSpPr>
        <p:spPr>
          <a:xfrm>
            <a:off x="1476375" y="1695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只有一个固定税率：暂时不需要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4B9CBB-EF81-4787-80F0-0231670CD3E1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4EE205-328A-430D-A09C-DAF81F7400BC}"/>
              </a:ext>
            </a:extLst>
          </p:cNvPr>
          <p:cNvSpPr>
            <a:spLocks noGrp="1"/>
          </p:cNvSpPr>
          <p:nvPr/>
        </p:nvSpPr>
        <p:spPr>
          <a:xfrm>
            <a:off x="1476375" y="2647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三家支付渠道各自计算手续费：可能需要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E0E2E-67F0-4CA4-846E-B9A298605FDA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EF054EA-6707-4C4A-A475-7C41847B2C92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一个算法内部判断金额是否为负：不是Strategy证据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D91C46-1A05-44F3-BFCE-7C574B9E1498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C27BA4-72CF-48A1-96F8-A2A4D59C34E5}"/>
              </a:ext>
            </a:extLst>
          </p:cNvPr>
          <p:cNvSpPr>
            <a:spLocks noGrp="1"/>
          </p:cNvSpPr>
          <p:nvPr/>
        </p:nvSpPr>
        <p:spPr>
          <a:xfrm>
            <a:off x="1476375" y="4552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要求运行时切换推荐算法：强证据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FCB8FE-5EB8-432A-AFEF-284B50B8E78D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02990E8-6748-4923-976E-3AC6EF2912F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DFDFE2-1333-4455-A6BA-97FD58724581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关键问题：变化的是局部判断，还是整套算法？</a:t>
            </a:r>
          </a:p>
        </p:txBody>
      </p:sp>
    </p:spTree>
    <p:extLst>
      <p:ext uri="{BB962C8B-B14F-4D97-AF65-F5344CB8AC3E}">
        <p14:creationId xmlns:p14="http://schemas.microsoft.com/office/powerpoint/2010/main" val="1616914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2CC0CCF3-7E37-48B2-A624-66236251D94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二 / 模板方法模式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1A24D3-8AB5-4FE1-9D3A-E66530815746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21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913100-E5DA-4E00-9514-6D1D6CBA66D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模板方法模式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B03C31-645A-474A-A001-5C6B0B08484C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2047875" cy="1333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750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1B0FAA-7A9E-4695-97FB-3DE38ABC739F}"/>
              </a:ext>
            </a:extLst>
          </p:cNvPr>
          <p:cNvSpPr>
            <a:spLocks noGrp="1"/>
          </p:cNvSpPr>
          <p:nvPr/>
        </p:nvSpPr>
        <p:spPr>
          <a:xfrm>
            <a:off x="3124200" y="2324100"/>
            <a:ext cx="8191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7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当算法骨架稳定、少量步骤变化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0A7395-7926-4180-BBC4-BDEA1DE44900}"/>
              </a:ext>
            </a:extLst>
          </p:cNvPr>
          <p:cNvSpPr>
            <a:spLocks noGrp="1"/>
          </p:cNvSpPr>
          <p:nvPr/>
        </p:nvSpPr>
        <p:spPr>
          <a:xfrm>
            <a:off x="3124200" y="3819525"/>
            <a:ext cx="809625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订单处理：公共顺序一致，计价和成功扩展可以不同。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AD1591-F80A-44F7-8814-5AD94AAA24FE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1EB008-F51A-4336-B01B-AAE20B132A3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904D5D-88AB-44E3-BC17-E8A1F250C308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模板方法模式在父类中定义算法骨架，把部分步骤留给子类实现或覆盖。</a:t>
            </a:r>
          </a:p>
        </p:txBody>
      </p:sp>
    </p:spTree>
    <p:extLst>
      <p:ext uri="{BB962C8B-B14F-4D97-AF65-F5344CB8AC3E}">
        <p14:creationId xmlns:p14="http://schemas.microsoft.com/office/powerpoint/2010/main" val="288262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6D2479A-E9C5-4DC4-9CDA-09146552E60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二 / 模板方法模式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7ED530-25C6-486D-984C-441FA5B11E07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22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32E458-A25B-494A-8A62-7D273BC05FC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订单处理流程案例背景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6E8719-2FD8-4F7E-8A11-2720689146A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3FBD42-547D-4E80-A66A-8CDA83E873EA}"/>
              </a:ext>
            </a:extLst>
          </p:cNvPr>
          <p:cNvSpPr>
            <a:spLocks noGrp="1"/>
          </p:cNvSpPr>
          <p:nvPr/>
        </p:nvSpPr>
        <p:spPr>
          <a:xfrm>
            <a:off x="1476375" y="1695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商城依次执行校验、计价、预留、保存与成功扩展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6384A0-188D-4671-B85D-6DA86C30E88D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FC1B32-4BFF-46A5-BC09-55AD9D743C79}"/>
              </a:ext>
            </a:extLst>
          </p:cNvPr>
          <p:cNvSpPr>
            <a:spLocks noGrp="1"/>
          </p:cNvSpPr>
          <p:nvPr/>
        </p:nvSpPr>
        <p:spPr>
          <a:xfrm>
            <a:off x="1476375" y="2647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标准处理器完成核心流程，默认成功扩展为空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63DC30-5B81-4E26-8327-9BB9ABF4CE78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DE86A3-31D2-418A-B773-5D10C81199C4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高风险订单在成功保存后还必须追加审计记录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C538DEB-81AD-44C6-9CAB-198C9BDE044C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3F0422-91B0-42B9-846B-0AEFC9BFBD8E}"/>
              </a:ext>
            </a:extLst>
          </p:cNvPr>
          <p:cNvSpPr>
            <a:spLocks noGrp="1"/>
          </p:cNvSpPr>
          <p:nvPr/>
        </p:nvSpPr>
        <p:spPr>
          <a:xfrm>
            <a:off x="1476375" y="4552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两种流程必须保持相同的核心顺序，任一步失败都立即停止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2F88C8-60E9-4D03-9C87-B2A246FFFDBA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475641-623D-4899-B2FE-3783E274D8E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27A71A2-1CFD-4B53-906C-52E6668821EA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如果复制两份完整流程，后续修改很容易造成步骤顺序和失败语义不一致。</a:t>
            </a:r>
          </a:p>
        </p:txBody>
      </p:sp>
    </p:spTree>
    <p:extLst>
      <p:ext uri="{BB962C8B-B14F-4D97-AF65-F5344CB8AC3E}">
        <p14:creationId xmlns:p14="http://schemas.microsoft.com/office/powerpoint/2010/main" val="819486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04ACCA71-AA43-4EDE-ADD2-E74784099E0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二 / 模板方法模式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ACA5DC-4C0D-4C14-82DA-7A6633C2787B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23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A4672-703E-4509-BA21-23F0980D4FA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先分清稳定与变化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B1E8FC-E725-4D07-A5C2-FD2890AC4161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25146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684145-EDA2-4418-9AB5-02B6D39EB32C}"/>
              </a:ext>
            </a:extLst>
          </p:cNvPr>
          <p:cNvSpPr>
            <a:spLocks noGrp="1"/>
          </p:cNvSpPr>
          <p:nvPr/>
        </p:nvSpPr>
        <p:spPr>
          <a:xfrm>
            <a:off x="609600" y="2943225"/>
            <a:ext cx="25146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稳定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A44D46-E52C-492E-8B0B-012527BE97F2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51460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步骤顺序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09CBF0-7A08-4A50-B9BD-94325306BE89}"/>
              </a:ext>
            </a:extLst>
          </p:cNvPr>
          <p:cNvSpPr>
            <a:spLocks noGrp="1"/>
          </p:cNvSpPr>
          <p:nvPr/>
        </p:nvSpPr>
        <p:spPr>
          <a:xfrm>
            <a:off x="3352800" y="2038350"/>
            <a:ext cx="25146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B13693-29AE-4B92-BB84-BA76F9A67C2F}"/>
              </a:ext>
            </a:extLst>
          </p:cNvPr>
          <p:cNvSpPr>
            <a:spLocks noGrp="1"/>
          </p:cNvSpPr>
          <p:nvPr/>
        </p:nvSpPr>
        <p:spPr>
          <a:xfrm>
            <a:off x="3352800" y="2943225"/>
            <a:ext cx="25146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稳定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2CF0FF-ECFD-4AD9-B44C-BEC5BE9E624F}"/>
              </a:ext>
            </a:extLst>
          </p:cNvPr>
          <p:cNvSpPr>
            <a:spLocks noGrp="1"/>
          </p:cNvSpPr>
          <p:nvPr/>
        </p:nvSpPr>
        <p:spPr>
          <a:xfrm>
            <a:off x="3352800" y="3905250"/>
            <a:ext cx="251460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失败即停止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0EC309-EEA6-4250-B450-D6EB8D17C926}"/>
              </a:ext>
            </a:extLst>
          </p:cNvPr>
          <p:cNvSpPr>
            <a:spLocks noGrp="1"/>
          </p:cNvSpPr>
          <p:nvPr/>
        </p:nvSpPr>
        <p:spPr>
          <a:xfrm>
            <a:off x="6096000" y="2038350"/>
            <a:ext cx="25146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9C300D-436C-41C4-AAFA-4F781C94C4F4}"/>
              </a:ext>
            </a:extLst>
          </p:cNvPr>
          <p:cNvSpPr>
            <a:spLocks noGrp="1"/>
          </p:cNvSpPr>
          <p:nvPr/>
        </p:nvSpPr>
        <p:spPr>
          <a:xfrm>
            <a:off x="6096000" y="2943225"/>
            <a:ext cx="25146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变化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D76276-1627-4047-A41A-6A41CA714351}"/>
              </a:ext>
            </a:extLst>
          </p:cNvPr>
          <p:cNvSpPr>
            <a:spLocks noGrp="1"/>
          </p:cNvSpPr>
          <p:nvPr/>
        </p:nvSpPr>
        <p:spPr>
          <a:xfrm>
            <a:off x="6096000" y="3905250"/>
            <a:ext cx="251460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成功后的扩展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59860C-6634-485B-9225-51D3E7A20F8D}"/>
              </a:ext>
            </a:extLst>
          </p:cNvPr>
          <p:cNvSpPr>
            <a:spLocks noGrp="1"/>
          </p:cNvSpPr>
          <p:nvPr/>
        </p:nvSpPr>
        <p:spPr>
          <a:xfrm>
            <a:off x="8839200" y="2038350"/>
            <a:ext cx="25146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32B7C3-BB60-443B-82B4-25CA9F8592A3}"/>
              </a:ext>
            </a:extLst>
          </p:cNvPr>
          <p:cNvSpPr>
            <a:spLocks noGrp="1"/>
          </p:cNvSpPr>
          <p:nvPr/>
        </p:nvSpPr>
        <p:spPr>
          <a:xfrm>
            <a:off x="8839200" y="2943225"/>
            <a:ext cx="25146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变化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8EFDBED-DE8E-4EBC-94B6-CD6A48578775}"/>
              </a:ext>
            </a:extLst>
          </p:cNvPr>
          <p:cNvSpPr>
            <a:spLocks noGrp="1"/>
          </p:cNvSpPr>
          <p:nvPr/>
        </p:nvSpPr>
        <p:spPr>
          <a:xfrm>
            <a:off x="8839200" y="3905250"/>
            <a:ext cx="251460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个别计算步骤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E12FC29-74B6-4936-B65E-EF09CE238D97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D4D9B00-287C-4BAD-8C01-28D663D66B8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7D5A2BF-48CE-4559-8438-F2B088E20C3D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顺序与异常传播保持一致，计价和成功扩展允许变化。</a:t>
            </a:r>
          </a:p>
        </p:txBody>
      </p:sp>
    </p:spTree>
    <p:extLst>
      <p:ext uri="{BB962C8B-B14F-4D97-AF65-F5344CB8AC3E}">
        <p14:creationId xmlns:p14="http://schemas.microsoft.com/office/powerpoint/2010/main" val="1724470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D6E93D5A-4F53-49E3-B9A7-393A3C2A14D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二 / 模板方法模式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0D81D9-6C18-49E6-A430-E052E013310B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24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451B5A-AA06-4FB4-861D-07DC03AE372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模板方法的核心意图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6BB79B-5C1A-4719-8713-DF6D406C630F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ED695C-15C7-4C31-A847-16E51AB49D1D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5095875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24E9059-6D5D-4CAD-803F-C3678088EEBC}"/>
              </a:ext>
            </a:extLst>
          </p:cNvPr>
          <p:cNvSpPr>
            <a:spLocks noGrp="1"/>
          </p:cNvSpPr>
          <p:nvPr/>
        </p:nvSpPr>
        <p:spPr>
          <a:xfrm>
            <a:off x="6515100" y="1819275"/>
            <a:ext cx="50673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稳定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407F2A-5768-47DF-8AC1-D352C967268D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5095875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算法中的少量步骤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由子类提供或覆盖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DB00A23-DFEA-4F18-86E6-75F119DC9328}"/>
              </a:ext>
            </a:extLst>
          </p:cNvPr>
          <p:cNvSpPr>
            <a:spLocks noGrp="1"/>
          </p:cNvSpPr>
          <p:nvPr/>
        </p:nvSpPr>
        <p:spPr>
          <a:xfrm>
            <a:off x="6515100" y="2952750"/>
            <a:ext cx="5067300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父类定义整体骨架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统一控制步骤顺序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E8A6AA5-222D-4B54-899D-E17865898E3B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DB1E67-03D4-4F99-86E1-5E265051755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4DDE10-B1A0-4FDA-950B-FEE56998A49C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Template Method通过继承复用算法骨架。</a:t>
            </a:r>
          </a:p>
        </p:txBody>
      </p:sp>
    </p:spTree>
    <p:extLst>
      <p:ext uri="{BB962C8B-B14F-4D97-AF65-F5344CB8AC3E}">
        <p14:creationId xmlns:p14="http://schemas.microsoft.com/office/powerpoint/2010/main" val="1061411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0048EA5-E67A-488B-9B24-CC000C26B1A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二 / 模板方法模式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4A6F3C-9B66-48D8-947E-525E20F0D064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25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66188B-8754-4656-AC3F-2E5E1C25A49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模板方法的类角色与方法职责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C2C175-C28F-41D3-A724-A68CB2257EBB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抽象类 / 具体类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CBD24F-EC77-4A52-ACF9-C85D295CEA42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OrderProcessor定义骨架</a:t>
            </a:r>
          </a:p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StandardOrderProcessor实现计价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CCA6A7-4608-437D-BEF7-08DF7546462D}"/>
              </a:ext>
            </a:extLst>
          </p:cNvPr>
          <p:cNvSpPr>
            <a:spLocks noGrp="1"/>
          </p:cNvSpPr>
          <p:nvPr/>
        </p:nvSpPr>
        <p:spPr>
          <a:xfrm>
            <a:off x="6515100" y="1762125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模板方法 process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7E5D1B-753C-4D16-9409-20E1A655493F}"/>
              </a:ext>
            </a:extLst>
          </p:cNvPr>
          <p:cNvSpPr>
            <a:spLocks noGrp="1"/>
          </p:cNvSpPr>
          <p:nvPr/>
        </p:nvSpPr>
        <p:spPr>
          <a:xfrm>
            <a:off x="6515100" y="249555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按固定顺序调用各步骤</a:t>
            </a:r>
          </a:p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final防止子类改写完整流程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BD2089-82D7-484F-A133-C9CFBFCDC2E0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抽象步骤 calculate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E4FF06-175F-4261-84B7-01A1289FB8F9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由具体子类提供实现</a:t>
            </a:r>
          </a:p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属于必要扩展点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E605ED-01E8-4840-8639-275F475F3AC2}"/>
              </a:ext>
            </a:extLst>
          </p:cNvPr>
          <p:cNvSpPr>
            <a:spLocks noGrp="1"/>
          </p:cNvSpPr>
          <p:nvPr/>
        </p:nvSpPr>
        <p:spPr>
          <a:xfrm>
            <a:off x="6515100" y="3905250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钩子 afterSuccess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3E6513-8800-4E41-B0F4-06238C5483CA}"/>
              </a:ext>
            </a:extLst>
          </p:cNvPr>
          <p:cNvSpPr>
            <a:spLocks noGrp="1"/>
          </p:cNvSpPr>
          <p:nvPr/>
        </p:nvSpPr>
        <p:spPr>
          <a:xfrm>
            <a:off x="6515100" y="4638675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父类默认不做处理</a:t>
            </a:r>
          </a:p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AuditedOrderProcessor覆盖审计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FEEE33-02C0-42DA-A4C2-0E038A559F21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227D75-B015-4D62-9DEF-647EE763827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E90A19-E298-40C2-B801-7B66E247076D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类角色说明谁承担职责，方法职责说明哪些步骤允许变化。</a:t>
            </a:r>
          </a:p>
        </p:txBody>
      </p:sp>
    </p:spTree>
    <p:extLst>
      <p:ext uri="{BB962C8B-B14F-4D97-AF65-F5344CB8AC3E}">
        <p14:creationId xmlns:p14="http://schemas.microsoft.com/office/powerpoint/2010/main" val="1572951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接箭头连接符 26"/>
          <p:cNvCxnSpPr>
            <a:stCxn id="12" idx="0"/>
            <a:endCxn id="8" idx="2"/>
          </p:cNvCxnSpPr>
          <p:nvPr/>
        </p:nvCxnSpPr>
        <p:spPr>
          <a:xfrm flipV="1">
            <a:off x="9496425" y="3238500"/>
            <a:ext cx="0" cy="866775"/>
          </a:xfrm>
          <a:prstGeom prst="straightConnector1">
            <a:avLst/>
          </a:prstGeom>
          <a:ln w="19050">
            <a:solidFill>
              <a:srgbClr val="173E56"/>
            </a:solidFill>
            <a:prstDash val="solid"/>
          </a:ln>
        </p:spPr>
      </p:cxnSp>
      <p:cxnSp>
        <p:nvCxnSpPr>
          <p:cNvPr id="28" name="直接箭头连接符 27"/>
          <p:cNvCxnSpPr>
            <a:stCxn id="8" idx="1"/>
            <a:endCxn id="4" idx="3"/>
          </p:cNvCxnSpPr>
          <p:nvPr/>
        </p:nvCxnSpPr>
        <p:spPr>
          <a:xfrm flipH="1">
            <a:off x="6515100" y="2476500"/>
            <a:ext cx="895350" cy="276225"/>
          </a:xfrm>
          <a:prstGeom prst="straightConnector1">
            <a:avLst/>
          </a:prstGeom>
          <a:ln w="19050">
            <a:solidFill>
              <a:srgbClr val="173E56"/>
            </a:solidFill>
            <a:prstDash val="solid"/>
          </a:ln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76822243-ACB4-4FC6-B1BE-7913F459792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二 / 模板方法模式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EBA0E05-293B-45F4-9ADE-AF8758190AFF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26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B75472-8388-4919-A44F-738E09F52D1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模板方法：案例类图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D7E034-8DB1-4240-B95D-2BA4F45C0A9F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905500" cy="2000250"/>
          </a:xfrm>
          <a:prstGeom prst="rect">
            <a:avLst/>
          </a:prstGeom>
          <a:solidFill>
            <a:srgbClr val="FAFCFC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9C82B8-E2E4-480D-8538-324A5069C16C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905500" cy="552450"/>
          </a:xfrm>
          <a:prstGeom prst="rect">
            <a:avLst/>
          </a:prstGeom>
          <a:solidFill>
            <a:srgbClr val="EAF2F4"/>
          </a:solidFill>
          <a:ln w="9525">
            <a:solidFill>
              <a:srgbClr val="CCD7DB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E372F2-378B-4A39-AD8C-EF7DA817E0C0}"/>
              </a:ext>
            </a:extLst>
          </p:cNvPr>
          <p:cNvSpPr>
            <a:spLocks noGrp="1"/>
          </p:cNvSpPr>
          <p:nvPr/>
        </p:nvSpPr>
        <p:spPr>
          <a:xfrm>
            <a:off x="704850" y="1790700"/>
            <a:ext cx="571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«abstract»</a:t>
            </a:r>
          </a:p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OrderProcessor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ACA061-7406-4C87-A6A8-27DD9DE8F305}"/>
              </a:ext>
            </a:extLst>
          </p:cNvPr>
          <p:cNvSpPr>
            <a:spLocks noGrp="1"/>
          </p:cNvSpPr>
          <p:nvPr/>
        </p:nvSpPr>
        <p:spPr>
          <a:xfrm>
            <a:off x="762000" y="2419350"/>
            <a:ext cx="5600700" cy="1219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5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+ process(order): Receipt {final}</a:t>
            </a:r>
          </a:p>
          <a:p>
            <a:pPr algn="l">
              <a:buNone/>
              <a:defRPr sz="15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# calculate(order): Price {abstract}</a:t>
            </a:r>
          </a:p>
          <a:p>
            <a:pPr algn="l">
              <a:buNone/>
              <a:defRPr sz="15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# afterSuccess(order, receipt)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A31099-61AA-4FAF-A4DE-B229CC749719}"/>
              </a:ext>
            </a:extLst>
          </p:cNvPr>
          <p:cNvSpPr>
            <a:spLocks noGrp="1"/>
          </p:cNvSpPr>
          <p:nvPr/>
        </p:nvSpPr>
        <p:spPr>
          <a:xfrm>
            <a:off x="7410450" y="1714500"/>
            <a:ext cx="4171950" cy="1524000"/>
          </a:xfrm>
          <a:prstGeom prst="rect">
            <a:avLst/>
          </a:prstGeom>
          <a:solidFill>
            <a:srgbClr val="FAFCFC"/>
          </a:solidFill>
          <a:ln w="9525">
            <a:solidFill>
              <a:srgbClr val="CCD7DB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103C7D-7978-4D50-8BC0-9C1B6A8C84A8}"/>
              </a:ext>
            </a:extLst>
          </p:cNvPr>
          <p:cNvSpPr>
            <a:spLocks noGrp="1"/>
          </p:cNvSpPr>
          <p:nvPr/>
        </p:nvSpPr>
        <p:spPr>
          <a:xfrm>
            <a:off x="7410450" y="1714500"/>
            <a:ext cx="4171950" cy="552450"/>
          </a:xfrm>
          <a:prstGeom prst="rect">
            <a:avLst/>
          </a:prstGeom>
          <a:solidFill>
            <a:srgbClr val="EAF2F4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2C5F51-98CE-4578-B8E1-1F497014B6F5}"/>
              </a:ext>
            </a:extLst>
          </p:cNvPr>
          <p:cNvSpPr>
            <a:spLocks noGrp="1"/>
          </p:cNvSpPr>
          <p:nvPr/>
        </p:nvSpPr>
        <p:spPr>
          <a:xfrm>
            <a:off x="7505700" y="1752600"/>
            <a:ext cx="39814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«ConcreteClass»</a:t>
            </a:r>
          </a:p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StandardOrderProcessor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BD6D772-DDCE-4780-86AC-388FF94E6F84}"/>
              </a:ext>
            </a:extLst>
          </p:cNvPr>
          <p:cNvSpPr>
            <a:spLocks noGrp="1"/>
          </p:cNvSpPr>
          <p:nvPr/>
        </p:nvSpPr>
        <p:spPr>
          <a:xfrm>
            <a:off x="7562850" y="2381250"/>
            <a:ext cx="386715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5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# calculate(order): Price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E958B6-6439-4BF0-824B-7914E5585314}"/>
              </a:ext>
            </a:extLst>
          </p:cNvPr>
          <p:cNvSpPr>
            <a:spLocks noGrp="1"/>
          </p:cNvSpPr>
          <p:nvPr/>
        </p:nvSpPr>
        <p:spPr>
          <a:xfrm>
            <a:off x="7410450" y="4105275"/>
            <a:ext cx="4171950" cy="1524000"/>
          </a:xfrm>
          <a:prstGeom prst="rect">
            <a:avLst/>
          </a:prstGeom>
          <a:solidFill>
            <a:srgbClr val="FAFCFC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D5E9A0-29B5-4CE4-826A-B553B2ADEF0C}"/>
              </a:ext>
            </a:extLst>
          </p:cNvPr>
          <p:cNvSpPr>
            <a:spLocks noGrp="1"/>
          </p:cNvSpPr>
          <p:nvPr/>
        </p:nvSpPr>
        <p:spPr>
          <a:xfrm>
            <a:off x="7410450" y="4105275"/>
            <a:ext cx="4171950" cy="552450"/>
          </a:xfrm>
          <a:prstGeom prst="rect">
            <a:avLst/>
          </a:prstGeom>
          <a:solidFill>
            <a:srgbClr val="EAF2F4"/>
          </a:solidFill>
          <a:ln w="9525">
            <a:solidFill>
              <a:srgbClr val="CCD7DB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75C971-72BC-4F65-944B-41F223A64741}"/>
              </a:ext>
            </a:extLst>
          </p:cNvPr>
          <p:cNvSpPr>
            <a:spLocks noGrp="1"/>
          </p:cNvSpPr>
          <p:nvPr/>
        </p:nvSpPr>
        <p:spPr>
          <a:xfrm>
            <a:off x="7505700" y="4143375"/>
            <a:ext cx="39814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«ConcreteClass»</a:t>
            </a:r>
          </a:p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AuditedOrderProcessor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CBE756-33E0-40DE-9EED-3903446202FD}"/>
              </a:ext>
            </a:extLst>
          </p:cNvPr>
          <p:cNvSpPr>
            <a:spLocks noGrp="1"/>
          </p:cNvSpPr>
          <p:nvPr/>
        </p:nvSpPr>
        <p:spPr>
          <a:xfrm>
            <a:off x="7562850" y="4772025"/>
            <a:ext cx="3867150" cy="74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5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# afterSuccess(order, receipt)</a:t>
            </a:r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4FFEAA28-E937-424C-8BCA-298B12416BBB}"/>
              </a:ext>
            </a:extLst>
          </p:cNvPr>
          <p:cNvSpPr>
            <a:spLocks noGrp="1"/>
          </p:cNvSpPr>
          <p:nvPr/>
        </p:nvSpPr>
        <p:spPr>
          <a:xfrm rot="15171267">
            <a:off x="6491817" y="2629395"/>
            <a:ext cx="228600" cy="190500"/>
          </a:xfrm>
          <a:prstGeom prst="triangle">
            <a:avLst/>
          </a:prstGeom>
          <a:solidFill>
            <a:srgbClr val="FAFCFC"/>
          </a:solidFill>
          <a:ln w="19050">
            <a:solidFill>
              <a:srgbClr val="173E56"/>
            </a:solidFill>
          </a:ln>
        </p:spPr>
      </p:sp>
      <p:sp>
        <p:nvSpPr>
          <p:cNvPr id="19" name="等腰三角形 18">
            <a:extLst>
              <a:ext uri="{FF2B5EF4-FFF2-40B4-BE49-F238E27FC236}">
                <a16:creationId xmlns:a16="http://schemas.microsoft.com/office/drawing/2014/main" id="{A0F13FE4-FCBF-48EF-BC81-2290647C6532}"/>
              </a:ext>
            </a:extLst>
          </p:cNvPr>
          <p:cNvSpPr>
            <a:spLocks noGrp="1"/>
          </p:cNvSpPr>
          <p:nvPr/>
        </p:nvSpPr>
        <p:spPr>
          <a:xfrm>
            <a:off x="9382125" y="3238500"/>
            <a:ext cx="228600" cy="190500"/>
          </a:xfrm>
          <a:prstGeom prst="triangle">
            <a:avLst/>
          </a:prstGeom>
          <a:solidFill>
            <a:srgbClr val="FAFCFC"/>
          </a:solidFill>
          <a:ln w="19050">
            <a:solidFill>
              <a:srgbClr val="173E56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A1F64BF-AD52-4423-89B3-A962B67B33FC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5905500" cy="1524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父类固定骨架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标准类提供计价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审计类覆盖成功扩展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6A91165-E9BC-4F28-8387-4CA2ECFFCAFF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C434F6D-A06A-4E2F-9358-457188A05073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1D9C342-2891-4793-8AE7-D0BE5E5C451E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空心三角指向父类；继承骨架，覆盖明确的差异步骤。</a:t>
            </a:r>
          </a:p>
        </p:txBody>
      </p:sp>
    </p:spTree>
    <p:extLst>
      <p:ext uri="{BB962C8B-B14F-4D97-AF65-F5344CB8AC3E}">
        <p14:creationId xmlns:p14="http://schemas.microsoft.com/office/powerpoint/2010/main" val="1334360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29972A7-D783-46AA-87A7-6DA72A6BF20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二 / 模板方法模式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486F01-3C6D-4DB6-8E51-98FDE6DE48E2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27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575F4C-EDEF-4296-8CC9-77C04C5D740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模板方法固定算法骨架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DBBDBE-E1AE-497F-91D1-43C657B6F881}"/>
              </a:ext>
            </a:extLst>
          </p:cNvPr>
          <p:cNvSpPr>
            <a:spLocks noGrp="1"/>
          </p:cNvSpPr>
          <p:nvPr/>
        </p:nvSpPr>
        <p:spPr>
          <a:xfrm>
            <a:off x="8467725" y="1676400"/>
            <a:ext cx="9525" cy="3905250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289387-F4D9-4D7A-9995-4D11BFE7A29B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7572375" cy="2905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public abstract class OrderProcessor {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public final Receipt process(Order order) {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validate(order);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Price price = calculate(order);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reserve(order);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Receipt receipt = repository.save(order, price);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afterSuccess(order, receipt);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return receipt;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FE108E-7AE4-4165-ADD2-CEDE18329C9F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final固定完整骨架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3D4343-29E4-4E97-9164-5DF9F9CAD315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父类控制执行顺序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0E4B20-D06F-4FDC-BCFD-1631014A1EBE}"/>
              </a:ext>
            </a:extLst>
          </p:cNvPr>
          <p:cNvSpPr>
            <a:spLocks noGrp="1"/>
          </p:cNvSpPr>
          <p:nvPr/>
        </p:nvSpPr>
        <p:spPr>
          <a:xfrm>
            <a:off x="8763000" y="36766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异常后停止后续步骤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E01F46C-C9DE-417D-A55B-C1CCA7548336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B6688A-7D69-400A-93A3-6B2E8692C90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10218F1-B39B-466A-807E-178429F4F701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process声明为final，防止子类覆盖整个骨架。</a:t>
            </a:r>
          </a:p>
        </p:txBody>
      </p:sp>
    </p:spTree>
    <p:extLst>
      <p:ext uri="{BB962C8B-B14F-4D97-AF65-F5344CB8AC3E}">
        <p14:creationId xmlns:p14="http://schemas.microsoft.com/office/powerpoint/2010/main" val="8585447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EDB7B0A-161B-4D24-B850-F52220DFEAE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二 / 模板方法模式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BB95C6-9DEE-4E4D-BF51-EBA3EBD0913B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28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CDB4D9-9C31-49CA-86CE-AB4A072405A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抽象步骤与钩子方法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8C1F08-D2AE-40F2-8638-E013AF0C87AF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C2B4B9-48BD-42E0-852A-E3A5C3CD490F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5095875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Primitive Operation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C020E1-CA6B-4CE7-90D5-1FC97EC54DF0}"/>
              </a:ext>
            </a:extLst>
          </p:cNvPr>
          <p:cNvSpPr>
            <a:spLocks noGrp="1"/>
          </p:cNvSpPr>
          <p:nvPr/>
        </p:nvSpPr>
        <p:spPr>
          <a:xfrm>
            <a:off x="6515100" y="1819275"/>
            <a:ext cx="50673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Hook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05EC58-5C6E-41EE-83DA-F84EFCDCA12D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5095875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子类必须实现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没有合理默认行为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例如calculate()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042827-940C-4442-9BC8-3A520227A766}"/>
              </a:ext>
            </a:extLst>
          </p:cNvPr>
          <p:cNvSpPr>
            <a:spLocks noGrp="1"/>
          </p:cNvSpPr>
          <p:nvPr/>
        </p:nvSpPr>
        <p:spPr>
          <a:xfrm>
            <a:off x="6515100" y="2952750"/>
            <a:ext cx="5067300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父类提供默认实现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子类可以不覆盖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例如afterSuccess()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28BAE2-D7C9-44A8-B5EB-37C1E5E7947A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B33CC4-A26A-4F50-A5BB-D6C01E448D2B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45FD49-0EA1-44AE-9984-9A2BA9BCDF30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原语操作通常是必须由子类完成的抽象步骤，例如calculate。</a:t>
            </a:r>
          </a:p>
        </p:txBody>
      </p:sp>
    </p:spTree>
    <p:extLst>
      <p:ext uri="{BB962C8B-B14F-4D97-AF65-F5344CB8AC3E}">
        <p14:creationId xmlns:p14="http://schemas.microsoft.com/office/powerpoint/2010/main" val="1280646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AC493D4-69A5-4D61-96F4-73FD93485FF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二 / 模板方法模式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13F129-F968-46CE-B30F-23D0CF6A9132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29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C9EBA6-9E33-463B-802B-25A54ADDF5D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父类提供默认钩子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1F9B1F-E394-4D80-A10D-200AD9A9A5B3}"/>
              </a:ext>
            </a:extLst>
          </p:cNvPr>
          <p:cNvSpPr>
            <a:spLocks noGrp="1"/>
          </p:cNvSpPr>
          <p:nvPr/>
        </p:nvSpPr>
        <p:spPr>
          <a:xfrm>
            <a:off x="8467725" y="1676400"/>
            <a:ext cx="9525" cy="3905250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4F0A04-01BB-4481-BFE0-3A6AEF9E4184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7572375" cy="1800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protected void afterSuccess(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Order order, Receipt receipt) {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// 默认不做额外处理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1800" b="0">
              <a:solidFill>
                <a:srgbClr val="263642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protected abstract Price calculate(Order order);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2FE893-172C-48AA-952E-0E6EE4DED315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模板方法调用扩展点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6B6E6A-4DBA-4344-97A0-B2BACBDD96EF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标准流程沿用默认钩子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E71EA6-0C8D-41C1-90FE-B2121506AE69}"/>
              </a:ext>
            </a:extLst>
          </p:cNvPr>
          <p:cNvSpPr>
            <a:spLocks noGrp="1"/>
          </p:cNvSpPr>
          <p:nvPr/>
        </p:nvSpPr>
        <p:spPr>
          <a:xfrm>
            <a:off x="8763000" y="36766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必要步骤使用抽象方法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3F404F-860D-42ED-A1D8-49BEFDF3EAEE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15AFD0-0545-4825-96FD-73B88B8339C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B06EFC5-307B-4563-A55C-57AB4064E170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默认空钩子使标准流程无需为可选扩展编写空实现。</a:t>
            </a:r>
          </a:p>
        </p:txBody>
      </p:sp>
    </p:spTree>
    <p:extLst>
      <p:ext uri="{BB962C8B-B14F-4D97-AF65-F5344CB8AC3E}">
        <p14:creationId xmlns:p14="http://schemas.microsoft.com/office/powerpoint/2010/main" val="2138629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9FDBB82C-3B33-4D07-8673-5CF3563850B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二 / 模板方法模式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68135A-150E-4A8B-964E-EFF7CDE89D7B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30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828963D-A878-418B-A9E8-4A8056B4E39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具体类：仅覆盖成功扩展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2B71EE-D86D-4856-9345-FC4427E435F7}"/>
              </a:ext>
            </a:extLst>
          </p:cNvPr>
          <p:cNvSpPr>
            <a:spLocks noGrp="1"/>
          </p:cNvSpPr>
          <p:nvPr/>
        </p:nvSpPr>
        <p:spPr>
          <a:xfrm>
            <a:off x="8467725" y="1676400"/>
            <a:ext cx="9525" cy="3905250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DA311F9-B166-43EA-87AC-3B7D1B1EB351}"/>
              </a:ext>
            </a:extLst>
          </p:cNvPr>
          <p:cNvSpPr>
            <a:spLocks noGrp="1"/>
          </p:cNvSpPr>
          <p:nvPr/>
        </p:nvSpPr>
        <p:spPr>
          <a:xfrm>
            <a:off x="609600" y="2662238"/>
            <a:ext cx="7572375" cy="2076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public final class AuditedOrderProcessor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extends StandardOrderProcessor {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@Override protected void afterSuccess(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  Order order, Receipt receipt) {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audit.append(order.id(), receipt.id());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FF8059-1291-4FD3-846A-D688048A16EF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不复制完整process()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6073B3-FA4D-42AA-8C85-AF99E1040B73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保存成功后才追加审计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B5071F-93A8-4926-A085-0F905147C888}"/>
              </a:ext>
            </a:extLst>
          </p:cNvPr>
          <p:cNvSpPr>
            <a:spLocks noGrp="1"/>
          </p:cNvSpPr>
          <p:nvPr/>
        </p:nvSpPr>
        <p:spPr>
          <a:xfrm>
            <a:off x="8763000" y="36766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扩展发生在成功之后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06E56C-0D45-46BB-83B2-55DD338363E2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DE01C3-AE99-4F3F-9F37-40A9EB2473A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F1E620-911D-4908-9EF2-FFC294745F5B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AuditedOrderProcessor继承标准计价，只覆盖afterSuccess，并记录订单号与回执号。</a:t>
            </a:r>
          </a:p>
        </p:txBody>
      </p:sp>
    </p:spTree>
    <p:extLst>
      <p:ext uri="{BB962C8B-B14F-4D97-AF65-F5344CB8AC3E}">
        <p14:creationId xmlns:p14="http://schemas.microsoft.com/office/powerpoint/2010/main" val="17989620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827414D0-F282-43BE-8AFD-D0FF59054DB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二 / 模板方法模式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5B1D8C-4B13-43BA-9B41-8191EAF6A255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31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602069-CED8-45D5-8888-8F5C858FDF0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模板方法：一次审计订单处理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CB5A4F5-7C66-474E-814C-137BBB1BA870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2628900" cy="571500"/>
          </a:xfrm>
          <a:prstGeom prst="roundRect">
            <a:avLst>
              <a:gd name="adj" fmla="val 13333"/>
            </a:avLst>
          </a:prstGeom>
          <a:solidFill>
            <a:srgbClr val="EAF2F9"/>
          </a:solidFill>
          <a:ln w="9525">
            <a:solidFill>
              <a:srgbClr val="173E5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59BCF8-BA9D-445F-A879-C576E3BFF611}"/>
              </a:ext>
            </a:extLst>
          </p:cNvPr>
          <p:cNvSpPr>
            <a:spLocks noGrp="1"/>
          </p:cNvSpPr>
          <p:nvPr/>
        </p:nvSpPr>
        <p:spPr>
          <a:xfrm>
            <a:off x="704850" y="1676400"/>
            <a:ext cx="24384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Client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0AEF0248-1760-4BED-B24C-751A71B18039}"/>
              </a:ext>
            </a:extLst>
          </p:cNvPr>
          <p:cNvSpPr>
            <a:spLocks noGrp="1"/>
          </p:cNvSpPr>
          <p:nvPr/>
        </p:nvSpPr>
        <p:spPr>
          <a:xfrm>
            <a:off x="1924050" y="2209800"/>
            <a:ext cx="0" cy="3429000"/>
          </a:xfrm>
          <a:prstGeom prst="line">
            <a:avLst/>
          </a:prstGeom>
          <a:noFill/>
          <a:ln w="9525">
            <a:solidFill>
              <a:srgbClr val="9AA8B5"/>
            </a:solidFill>
            <a:prstDash val="dash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89F2FF9-F4F5-49C3-A6CD-18A34F6A25D1}"/>
              </a:ext>
            </a:extLst>
          </p:cNvPr>
          <p:cNvSpPr>
            <a:spLocks noGrp="1"/>
          </p:cNvSpPr>
          <p:nvPr/>
        </p:nvSpPr>
        <p:spPr>
          <a:xfrm>
            <a:off x="3390900" y="1638300"/>
            <a:ext cx="2628900" cy="571500"/>
          </a:xfrm>
          <a:prstGeom prst="roundRect">
            <a:avLst>
              <a:gd name="adj" fmla="val 13333"/>
            </a:avLst>
          </a:prstGeom>
          <a:solidFill>
            <a:srgbClr val="EAF5EF"/>
          </a:solidFill>
          <a:ln w="9525">
            <a:solidFill>
              <a:srgbClr val="15776E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29192E-12BB-4B5F-B516-4CD61BE6ADBF}"/>
              </a:ext>
            </a:extLst>
          </p:cNvPr>
          <p:cNvSpPr>
            <a:spLocks noGrp="1"/>
          </p:cNvSpPr>
          <p:nvPr/>
        </p:nvSpPr>
        <p:spPr>
          <a:xfrm>
            <a:off x="3486150" y="1676400"/>
            <a:ext cx="24384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审计处理器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23C5F21E-A9A1-4082-9DCB-95CCB891BB56}"/>
              </a:ext>
            </a:extLst>
          </p:cNvPr>
          <p:cNvSpPr>
            <a:spLocks noGrp="1"/>
          </p:cNvSpPr>
          <p:nvPr/>
        </p:nvSpPr>
        <p:spPr>
          <a:xfrm>
            <a:off x="4705350" y="2209800"/>
            <a:ext cx="0" cy="3429000"/>
          </a:xfrm>
          <a:prstGeom prst="line">
            <a:avLst/>
          </a:prstGeom>
          <a:noFill/>
          <a:ln w="9525">
            <a:solidFill>
              <a:srgbClr val="9AA8B5"/>
            </a:solidFill>
            <a:prstDash val="dash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11FD1E1-EB8D-4310-9F45-A3777FB8BB90}"/>
              </a:ext>
            </a:extLst>
          </p:cNvPr>
          <p:cNvSpPr>
            <a:spLocks noGrp="1"/>
          </p:cNvSpPr>
          <p:nvPr/>
        </p:nvSpPr>
        <p:spPr>
          <a:xfrm>
            <a:off x="6172200" y="1638300"/>
            <a:ext cx="2628900" cy="571500"/>
          </a:xfrm>
          <a:prstGeom prst="roundRect">
            <a:avLst>
              <a:gd name="adj" fmla="val 13333"/>
            </a:avLst>
          </a:prstGeom>
          <a:solidFill>
            <a:srgbClr val="EAF5EF"/>
          </a:solidFill>
          <a:ln w="9525">
            <a:solidFill>
              <a:srgbClr val="15776E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5B792-7A06-46DE-9E7E-593344D9C3C6}"/>
              </a:ext>
            </a:extLst>
          </p:cNvPr>
          <p:cNvSpPr>
            <a:spLocks noGrp="1"/>
          </p:cNvSpPr>
          <p:nvPr/>
        </p:nvSpPr>
        <p:spPr>
          <a:xfrm>
            <a:off x="6267450" y="1676400"/>
            <a:ext cx="24384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OrderRepository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96B2D6A7-4516-4FD8-9359-1A551918F2AA}"/>
              </a:ext>
            </a:extLst>
          </p:cNvPr>
          <p:cNvSpPr>
            <a:spLocks noGrp="1"/>
          </p:cNvSpPr>
          <p:nvPr/>
        </p:nvSpPr>
        <p:spPr>
          <a:xfrm>
            <a:off x="7486650" y="2209800"/>
            <a:ext cx="0" cy="3429000"/>
          </a:xfrm>
          <a:prstGeom prst="line">
            <a:avLst/>
          </a:prstGeom>
          <a:noFill/>
          <a:ln w="9525">
            <a:solidFill>
              <a:srgbClr val="9AA8B5"/>
            </a:solidFill>
            <a:prstDash val="dash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D17C963-C170-4D5F-8CB1-5667B29F266D}"/>
              </a:ext>
            </a:extLst>
          </p:cNvPr>
          <p:cNvSpPr>
            <a:spLocks noGrp="1"/>
          </p:cNvSpPr>
          <p:nvPr/>
        </p:nvSpPr>
        <p:spPr>
          <a:xfrm>
            <a:off x="8953500" y="1638300"/>
            <a:ext cx="2628900" cy="571500"/>
          </a:xfrm>
          <a:prstGeom prst="roundRect">
            <a:avLst>
              <a:gd name="adj" fmla="val 13333"/>
            </a:avLst>
          </a:prstGeom>
          <a:solidFill>
            <a:srgbClr val="EAF5EF"/>
          </a:solidFill>
          <a:ln w="9525">
            <a:solidFill>
              <a:srgbClr val="15776E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5F28FD-AFCE-47D8-9715-2C43CE304B48}"/>
              </a:ext>
            </a:extLst>
          </p:cNvPr>
          <p:cNvSpPr>
            <a:spLocks noGrp="1"/>
          </p:cNvSpPr>
          <p:nvPr/>
        </p:nvSpPr>
        <p:spPr>
          <a:xfrm>
            <a:off x="9048750" y="1676400"/>
            <a:ext cx="24384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AuditLog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33D31927-7C16-4E03-B283-56B699283A3A}"/>
              </a:ext>
            </a:extLst>
          </p:cNvPr>
          <p:cNvSpPr>
            <a:spLocks noGrp="1"/>
          </p:cNvSpPr>
          <p:nvPr/>
        </p:nvSpPr>
        <p:spPr>
          <a:xfrm>
            <a:off x="10267950" y="2209800"/>
            <a:ext cx="0" cy="3429000"/>
          </a:xfrm>
          <a:prstGeom prst="line">
            <a:avLst/>
          </a:prstGeom>
          <a:noFill/>
          <a:ln w="9525">
            <a:solidFill>
              <a:srgbClr val="9AA8B5"/>
            </a:solidFill>
            <a:prstDash val="dash"/>
          </a:ln>
        </p:spPr>
      </p:sp>
      <p:cxnSp>
        <p:nvCxnSpPr>
          <p:cNvPr id="68" name="直接箭头连接符 67"/>
          <p:cNvCxnSpPr/>
          <p:nvPr/>
        </p:nvCxnSpPr>
        <p:spPr>
          <a:xfrm>
            <a:off x="1924050" y="2667000"/>
            <a:ext cx="2781300" cy="0"/>
          </a:xfrm>
          <a:prstGeom prst="straightConnector1">
            <a:avLst/>
          </a:prstGeom>
          <a:ln w="19050">
            <a:solidFill>
              <a:srgbClr val="173E56"/>
            </a:solidFill>
            <a:prstDash val="solid"/>
            <a:tailEnd type="arrow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4DD35369-941D-4290-A1A1-789044C9FDA2}"/>
              </a:ext>
            </a:extLst>
          </p:cNvPr>
          <p:cNvSpPr>
            <a:spLocks noGrp="1"/>
          </p:cNvSpPr>
          <p:nvPr/>
        </p:nvSpPr>
        <p:spPr>
          <a:xfrm>
            <a:off x="2019300" y="2343150"/>
            <a:ext cx="2590800" cy="3048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1. process(order)</a:t>
            </a:r>
          </a:p>
        </p:txBody>
      </p:sp>
      <p:cxnSp>
        <p:nvCxnSpPr>
          <p:cNvPr id="70" name="直接箭头连接符 69"/>
          <p:cNvCxnSpPr/>
          <p:nvPr/>
        </p:nvCxnSpPr>
        <p:spPr>
          <a:xfrm>
            <a:off x="4705350" y="3286125"/>
            <a:ext cx="2781300" cy="0"/>
          </a:xfrm>
          <a:prstGeom prst="straightConnector1">
            <a:avLst/>
          </a:prstGeom>
          <a:ln w="19050">
            <a:solidFill>
              <a:srgbClr val="173E56"/>
            </a:solidFill>
            <a:prstDash val="solid"/>
            <a:tailEnd type="arrow" w="med" len="me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9286F50F-C58E-46C9-BF97-C44393D8CB5D}"/>
              </a:ext>
            </a:extLst>
          </p:cNvPr>
          <p:cNvSpPr>
            <a:spLocks noGrp="1"/>
          </p:cNvSpPr>
          <p:nvPr/>
        </p:nvSpPr>
        <p:spPr>
          <a:xfrm>
            <a:off x="4800600" y="2962275"/>
            <a:ext cx="2590800" cy="3048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2. save(order, price)</a:t>
            </a:r>
          </a:p>
        </p:txBody>
      </p:sp>
      <p:cxnSp>
        <p:nvCxnSpPr>
          <p:cNvPr id="72" name="直接箭头连接符 71"/>
          <p:cNvCxnSpPr/>
          <p:nvPr/>
        </p:nvCxnSpPr>
        <p:spPr>
          <a:xfrm>
            <a:off x="4705350" y="3905250"/>
            <a:ext cx="2781300" cy="0"/>
          </a:xfrm>
          <a:prstGeom prst="straightConnector1">
            <a:avLst/>
          </a:prstGeom>
          <a:ln w="19050">
            <a:solidFill>
              <a:srgbClr val="6D7C85"/>
            </a:solidFill>
            <a:prstDash val="dash"/>
            <a:headEnd type="arrow" w="med" len="med"/>
          </a:ln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7A94FAB-8E9A-40CB-B9AD-5D166EB29139}"/>
              </a:ext>
            </a:extLst>
          </p:cNvPr>
          <p:cNvSpPr>
            <a:spLocks noGrp="1"/>
          </p:cNvSpPr>
          <p:nvPr/>
        </p:nvSpPr>
        <p:spPr>
          <a:xfrm>
            <a:off x="4800600" y="3581400"/>
            <a:ext cx="2590800" cy="3048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3. Receipt</a:t>
            </a:r>
          </a:p>
        </p:txBody>
      </p:sp>
      <p:cxnSp>
        <p:nvCxnSpPr>
          <p:cNvPr id="74" name="直接箭头连接符 73"/>
          <p:cNvCxnSpPr/>
          <p:nvPr/>
        </p:nvCxnSpPr>
        <p:spPr>
          <a:xfrm>
            <a:off x="4705350" y="4524375"/>
            <a:ext cx="5562600" cy="0"/>
          </a:xfrm>
          <a:prstGeom prst="straightConnector1">
            <a:avLst/>
          </a:prstGeom>
          <a:ln w="19050">
            <a:solidFill>
              <a:srgbClr val="173E56"/>
            </a:solidFill>
            <a:prstDash val="solid"/>
            <a:tailEnd type="arrow" w="med" len="med"/>
          </a:ln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07F9A3D2-6FDD-4D4D-B173-11F74902860B}"/>
              </a:ext>
            </a:extLst>
          </p:cNvPr>
          <p:cNvSpPr>
            <a:spLocks noGrp="1"/>
          </p:cNvSpPr>
          <p:nvPr/>
        </p:nvSpPr>
        <p:spPr>
          <a:xfrm>
            <a:off x="4800600" y="4200525"/>
            <a:ext cx="5372100" cy="3048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4. afterSuccess(): append</a:t>
            </a:r>
          </a:p>
        </p:txBody>
      </p:sp>
      <p:cxnSp>
        <p:nvCxnSpPr>
          <p:cNvPr id="76" name="直接箭头连接符 75"/>
          <p:cNvCxnSpPr/>
          <p:nvPr/>
        </p:nvCxnSpPr>
        <p:spPr>
          <a:xfrm>
            <a:off x="1924050" y="5143500"/>
            <a:ext cx="2781300" cy="0"/>
          </a:xfrm>
          <a:prstGeom prst="straightConnector1">
            <a:avLst/>
          </a:prstGeom>
          <a:ln w="19050">
            <a:solidFill>
              <a:srgbClr val="6D7C85"/>
            </a:solidFill>
            <a:prstDash val="dash"/>
            <a:headEnd type="arrow" w="med" len="med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29259E65-6D17-4F18-8112-3C53BF864BFD}"/>
              </a:ext>
            </a:extLst>
          </p:cNvPr>
          <p:cNvSpPr>
            <a:spLocks noGrp="1"/>
          </p:cNvSpPr>
          <p:nvPr/>
        </p:nvSpPr>
        <p:spPr>
          <a:xfrm>
            <a:off x="2019300" y="4819650"/>
            <a:ext cx="2590800" cy="3048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5. Receipt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7C8F5E9-B3A3-48D5-9C88-1A27EB9CC4C4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467F8A2-C1C8-47EC-A98E-B5D0997EBDC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D0195AC-9F3B-42F2-9816-BCA127308369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图中省略内部步骤，突出先保存、后审计的调用顺序。</a:t>
            </a:r>
          </a:p>
        </p:txBody>
      </p:sp>
    </p:spTree>
    <p:extLst>
      <p:ext uri="{BB962C8B-B14F-4D97-AF65-F5344CB8AC3E}">
        <p14:creationId xmlns:p14="http://schemas.microsoft.com/office/powerpoint/2010/main" val="13013354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6CA393C-33FC-4B1C-A30A-966AEACA053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二 / 模板方法模式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5CE6C5C-2208-47D7-A944-8E09CD1496CF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32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B7837B-942E-4B66-B164-669D434E5FA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模板方法怎样测试？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FA7D032-564E-4F0E-A557-DDFB229130E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20C748-D870-4CC9-BEB6-D12988FDA3F4}"/>
              </a:ext>
            </a:extLst>
          </p:cNvPr>
          <p:cNvSpPr>
            <a:spLocks noGrp="1"/>
          </p:cNvSpPr>
          <p:nvPr/>
        </p:nvSpPr>
        <p:spPr>
          <a:xfrm>
            <a:off x="1476375" y="1695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验证所有具体流程共享核心结果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EAABF0-DA58-46BB-A431-E79D5E67C4B0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A75708-7578-4F52-94C7-9CC7D325631D}"/>
              </a:ext>
            </a:extLst>
          </p:cNvPr>
          <p:cNvSpPr>
            <a:spLocks noGrp="1"/>
          </p:cNvSpPr>
          <p:nvPr/>
        </p:nvSpPr>
        <p:spPr>
          <a:xfrm>
            <a:off x="1476375" y="2647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验证失败后不执行成功Hook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002E31-24B1-40E2-930C-9C8121D32C2C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F68932-6507-4E6F-A9D2-B194B731BC0C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验证子类差异只发生在扩展点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918624C-B2A6-400B-9F2A-5390261141F7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6826D0C-6AC5-4486-8F46-0A8CF3EAC889}"/>
              </a:ext>
            </a:extLst>
          </p:cNvPr>
          <p:cNvSpPr>
            <a:spLocks noGrp="1"/>
          </p:cNvSpPr>
          <p:nvPr/>
        </p:nvSpPr>
        <p:spPr>
          <a:xfrm>
            <a:off x="1476375" y="4552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用代码审查确认模板方法没有被复制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F412FE-9D54-4604-AB0E-D1FD534D8D90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B8D5A08-45B4-42B2-8373-1EEA00E5A23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908BCFC-6AED-412D-9895-48FD579D2E33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测试应检查可观察的执行顺序和失败路径。</a:t>
            </a:r>
          </a:p>
        </p:txBody>
      </p:sp>
    </p:spTree>
    <p:extLst>
      <p:ext uri="{BB962C8B-B14F-4D97-AF65-F5344CB8AC3E}">
        <p14:creationId xmlns:p14="http://schemas.microsoft.com/office/powerpoint/2010/main" val="16207090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CFF19E1-CB90-4F28-A71A-5E078A4FB4B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二 / 模板方法模式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F60465-7C1E-495D-84E5-EF3060CDBBD1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33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073F06-A040-4A7E-8169-445E1486A82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什么时候适合模板方法？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0EF848-C82C-4E54-A4FF-F39311F969A7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39DF01-D146-434B-AE12-7DE6D8519795}"/>
              </a:ext>
            </a:extLst>
          </p:cNvPr>
          <p:cNvSpPr>
            <a:spLocks noGrp="1"/>
          </p:cNvSpPr>
          <p:nvPr/>
        </p:nvSpPr>
        <p:spPr>
          <a:xfrm>
            <a:off x="1476375" y="1695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多个算法共享长期稳定的步骤顺序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A3DEF5-9118-4AC4-8C0A-FE837034C28E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CCB4BA5-5D4B-4785-BDC6-F2AB5DD091EE}"/>
              </a:ext>
            </a:extLst>
          </p:cNvPr>
          <p:cNvSpPr>
            <a:spLocks noGrp="1"/>
          </p:cNvSpPr>
          <p:nvPr/>
        </p:nvSpPr>
        <p:spPr>
          <a:xfrm>
            <a:off x="1476375" y="2647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差异集中在少量明确步骤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565773-709E-4B0B-8B22-ABFBECE271E6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FE86DC9-4FED-4519-99F0-6CAAD79C3F3D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父类能够定义有意义的共同契约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C424D8-F9E1-48B1-B380-31F4DCD5400A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DE89B8-4D65-452E-A265-5F3C87508632}"/>
              </a:ext>
            </a:extLst>
          </p:cNvPr>
          <p:cNvSpPr>
            <a:spLocks noGrp="1"/>
          </p:cNvSpPr>
          <p:nvPr/>
        </p:nvSpPr>
        <p:spPr>
          <a:xfrm>
            <a:off x="1476375" y="4552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继承耦合与变化方向可以接受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5F6E11-83A1-4419-979D-EDAE33A22F67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338320-4575-419B-A6FA-50D3BF343BE3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D39CA6-5340-4736-A3F3-0C5AF1F6848C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模板方法适用于长期共享同一顺序、仅少量步骤不同的算法。</a:t>
            </a:r>
          </a:p>
        </p:txBody>
      </p:sp>
    </p:spTree>
    <p:extLst>
      <p:ext uri="{BB962C8B-B14F-4D97-AF65-F5344CB8AC3E}">
        <p14:creationId xmlns:p14="http://schemas.microsoft.com/office/powerpoint/2010/main" val="10290086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5535105-B7D4-4168-8DA4-5F1D97DC157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二 / 模板方法模式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61CFE2-9D1C-4AE1-803E-EAD3559F52B8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34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07A10B-AAF0-4C5C-A3A4-8429A4522B0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模板方法的效果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C8E5DB-43CF-4D88-9CF8-6579FBB89A20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A06756-32F8-4496-A5C7-7F25C57A4D19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5095875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EB8FC9-6634-4BDE-885C-AC14C12E3323}"/>
              </a:ext>
            </a:extLst>
          </p:cNvPr>
          <p:cNvSpPr>
            <a:spLocks noGrp="1"/>
          </p:cNvSpPr>
          <p:nvPr/>
        </p:nvSpPr>
        <p:spPr>
          <a:xfrm>
            <a:off x="6515100" y="1819275"/>
            <a:ext cx="50673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8AC64AD-7609-4C80-9082-3AEA45EC4CFE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5095875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骨架只维护一份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顺序和失败语义统一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扩展点明确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597C8A-A6C1-4E85-A205-14C8DACBECFB}"/>
              </a:ext>
            </a:extLst>
          </p:cNvPr>
          <p:cNvSpPr>
            <a:spLocks noGrp="1"/>
          </p:cNvSpPr>
          <p:nvPr/>
        </p:nvSpPr>
        <p:spPr>
          <a:xfrm>
            <a:off x="6515100" y="2952750"/>
            <a:ext cx="5067300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继承耦合较强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父类变化影响全部子类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扩展点过多会难以理解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9B351F-DFE9-4BAD-8A39-9EBB5D299D52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20D3FBE-E896-4E0D-9CA2-43F9DCFD7FC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5DD551-4E61-49C8-BB51-F34F8C80B6A5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统一骨架能减少顺序漂移，但也把子类与父类的执行约定联系起来。</a:t>
            </a:r>
          </a:p>
        </p:txBody>
      </p:sp>
    </p:spTree>
    <p:extLst>
      <p:ext uri="{BB962C8B-B14F-4D97-AF65-F5344CB8AC3E}">
        <p14:creationId xmlns:p14="http://schemas.microsoft.com/office/powerpoint/2010/main" val="2283854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FAF091A-0052-4ACD-AA82-E2B0633AA23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二 / 模板方法模式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7FEF12-E5B5-40F4-AEBF-BDBA8E34C932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35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826DF7-BB77-4D4C-B6EA-755B2BD33DD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策略模式与模板方法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62C5A2-1EC5-4C5E-BCAC-F1F7AA19951C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606081-B301-454E-AA7C-F4BC69693585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5095875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策略模式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7013AE-00B0-4048-8A11-058392FCC7D8}"/>
              </a:ext>
            </a:extLst>
          </p:cNvPr>
          <p:cNvSpPr>
            <a:spLocks noGrp="1"/>
          </p:cNvSpPr>
          <p:nvPr/>
        </p:nvSpPr>
        <p:spPr>
          <a:xfrm>
            <a:off x="6515100" y="1819275"/>
            <a:ext cx="50673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模板方法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A9A948-921A-44DF-8973-15E2BF281351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5095875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组合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替换整套算法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运行时容易切换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3FC3564-3863-4805-A6F7-4ED561AA429C}"/>
              </a:ext>
            </a:extLst>
          </p:cNvPr>
          <p:cNvSpPr>
            <a:spLocks noGrp="1"/>
          </p:cNvSpPr>
          <p:nvPr/>
        </p:nvSpPr>
        <p:spPr>
          <a:xfrm>
            <a:off x="6515100" y="2952750"/>
            <a:ext cx="5067300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继承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复用算法骨架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子类改变少量步骤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77F17FC-2050-4AEF-8077-C2BD8A302754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E4EAAD6-4DCE-493F-A7E7-F850C6A1964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CE69FB-19D5-4886-8808-F4F7703271C5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策略模式通过组合替换一整套算法，模板方法通过继承复用骨架并改变少量步骤。</a:t>
            </a:r>
          </a:p>
        </p:txBody>
      </p:sp>
    </p:spTree>
    <p:extLst>
      <p:ext uri="{BB962C8B-B14F-4D97-AF65-F5344CB8AC3E}">
        <p14:creationId xmlns:p14="http://schemas.microsoft.com/office/powerpoint/2010/main" val="7523873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B8836FEF-051A-499B-81D4-7DB8B3DE88E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二 / 模板方法模式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3F4CE4-6726-4729-B5BA-B83E2053AC61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36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D68980-8F57-45DD-8021-CCBD4C2FA2F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概念检查：是否需要模板方法？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E2DFBD-04A8-4CC3-AB90-14AD35B35A1B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1E05A7-4355-4BA7-93D2-989F8122E3F8}"/>
              </a:ext>
            </a:extLst>
          </p:cNvPr>
          <p:cNvSpPr>
            <a:spLocks noGrp="1"/>
          </p:cNvSpPr>
          <p:nvPr/>
        </p:nvSpPr>
        <p:spPr>
          <a:xfrm>
            <a:off x="1476375" y="1695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两条流程只有名称相似：不够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8709A9-28CA-4AB9-865A-E32FB2408FEC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8A0485-7676-4770-8EFD-124FBE81F2BB}"/>
              </a:ext>
            </a:extLst>
          </p:cNvPr>
          <p:cNvSpPr>
            <a:spLocks noGrp="1"/>
          </p:cNvSpPr>
          <p:nvPr/>
        </p:nvSpPr>
        <p:spPr>
          <a:xfrm>
            <a:off x="1476375" y="2647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步骤顺序稳定、日志步骤不同：可能适合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2C103B-EA3C-4FCC-A99A-D0FD3C78E372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28E682-10BE-4565-A8B3-04ECF13E164D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子类要重写80%的步骤：通常不适合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BEA69B-2C72-40E3-A002-0B1139DC8795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D314B4-702F-402E-AF17-FA4201625D21}"/>
              </a:ext>
            </a:extLst>
          </p:cNvPr>
          <p:cNvSpPr>
            <a:spLocks noGrp="1"/>
          </p:cNvSpPr>
          <p:nvPr/>
        </p:nvSpPr>
        <p:spPr>
          <a:xfrm>
            <a:off x="1476375" y="4552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需要运行时任意组合步骤：考虑组合方案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5FF802-551B-4708-B337-CE01E8C1BDF1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BCD5CE-E73C-43EB-B92C-55447823405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74666C-6D76-444C-AC07-877BB28C2549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关键问题：共享的是稳定骨架，还是暂时重复？</a:t>
            </a:r>
          </a:p>
        </p:txBody>
      </p:sp>
    </p:spTree>
    <p:extLst>
      <p:ext uri="{BB962C8B-B14F-4D97-AF65-F5344CB8AC3E}">
        <p14:creationId xmlns:p14="http://schemas.microsoft.com/office/powerpoint/2010/main" val="11843642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DD66D71-081E-49B0-9DA0-2CE507C025A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三 / 状态模式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D7DA8E-E0BC-4683-B3B8-1D1A11C766F3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37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A009879-48ED-4F03-B631-13DE02FFE59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状态模式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AEF9B9-C4AA-4864-9E1E-54D99EE50518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2047875" cy="1333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750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73DD87-457F-4B18-A37D-D1C1B57BEB09}"/>
              </a:ext>
            </a:extLst>
          </p:cNvPr>
          <p:cNvSpPr>
            <a:spLocks noGrp="1"/>
          </p:cNvSpPr>
          <p:nvPr/>
        </p:nvSpPr>
        <p:spPr>
          <a:xfrm>
            <a:off x="3124200" y="2324100"/>
            <a:ext cx="8191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7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当对象的行为取决于内部状态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635FDE-8158-4545-8435-1011F5EBE629}"/>
              </a:ext>
            </a:extLst>
          </p:cNvPr>
          <p:cNvSpPr>
            <a:spLocks noGrp="1"/>
          </p:cNvSpPr>
          <p:nvPr/>
        </p:nvSpPr>
        <p:spPr>
          <a:xfrm>
            <a:off x="3124200" y="3819525"/>
            <a:ext cx="809625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订单生命周期：当前状态决定动作是否合法。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0672DC-5211-4DD2-BCC4-B96C4ACC4C56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7A8DF9-9C30-446F-BFC3-7E2DA89091E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E48C39-35A6-4930-9ACE-9770E68A4CF4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状态模式允许对象在内部状态改变时改变行为。</a:t>
            </a:r>
          </a:p>
        </p:txBody>
      </p:sp>
    </p:spTree>
    <p:extLst>
      <p:ext uri="{BB962C8B-B14F-4D97-AF65-F5344CB8AC3E}">
        <p14:creationId xmlns:p14="http://schemas.microsoft.com/office/powerpoint/2010/main" val="11890266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6988A069-5811-4239-B952-09BE6E93872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三 / 状态模式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1931A7-E520-4B6B-901A-C1B556D8CD86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38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FE21EC-74F9-4BF4-AC5D-EA6AFC588CA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订单状态案例背景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817AD5-0FD7-466F-8617-4EAD4AC6082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1C03BF-B269-42DF-82A1-1174A8F5A809}"/>
              </a:ext>
            </a:extLst>
          </p:cNvPr>
          <p:cNvSpPr>
            <a:spLocks noGrp="1"/>
          </p:cNvSpPr>
          <p:nvPr/>
        </p:nvSpPr>
        <p:spPr>
          <a:xfrm>
            <a:off x="1476375" y="1695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订单创建后处于PENDING，可以支付或取消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D8D4CA-09F2-4D03-AA0F-F69F6A64710A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58799C-9D21-477E-962B-4828989F4A4A}"/>
              </a:ext>
            </a:extLst>
          </p:cNvPr>
          <p:cNvSpPr>
            <a:spLocks noGrp="1"/>
          </p:cNvSpPr>
          <p:nvPr/>
        </p:nvSpPr>
        <p:spPr>
          <a:xfrm>
            <a:off x="1476375" y="2647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支付成功后进入PAID，可以发货或退款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456773-8AD0-4870-AF98-C1D8E02EA240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D31F3AE-7205-4CFF-B1A5-CCF1449B7F29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发货后进入SHIPPED，确认收货后进入COMPLETED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AB5136-3D3A-447E-972E-B08FDFA50E87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6E90EEC-C9F9-40D8-9E58-459649A1F8E8}"/>
              </a:ext>
            </a:extLst>
          </p:cNvPr>
          <p:cNvSpPr>
            <a:spLocks noGrp="1"/>
          </p:cNvSpPr>
          <p:nvPr/>
        </p:nvSpPr>
        <p:spPr>
          <a:xfrm>
            <a:off x="1476375" y="4552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pay、cancel、ship、refund等方法都开始包含状态判断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00936A-3FE9-4E94-BACF-0EFF7CABC31E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A64AA0-E3B6-4817-966C-0163E8E3A15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562543-3575-458F-8967-7C4D4C073814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每增加一个状态或动作，多个switch一起修改，合法迁移逐渐散落。</a:t>
            </a:r>
          </a:p>
        </p:txBody>
      </p:sp>
    </p:spTree>
    <p:extLst>
      <p:ext uri="{BB962C8B-B14F-4D97-AF65-F5344CB8AC3E}">
        <p14:creationId xmlns:p14="http://schemas.microsoft.com/office/powerpoint/2010/main" val="10723150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接箭头连接符 32"/>
          <p:cNvCxnSpPr>
            <a:stCxn id="5" idx="2"/>
            <a:endCxn id="8" idx="0"/>
          </p:cNvCxnSpPr>
          <p:nvPr/>
        </p:nvCxnSpPr>
        <p:spPr>
          <a:xfrm>
            <a:off x="4619625" y="2714625"/>
            <a:ext cx="0" cy="1476375"/>
          </a:xfrm>
          <a:prstGeom prst="straightConnector1">
            <a:avLst/>
          </a:prstGeom>
          <a:ln w="19050">
            <a:solidFill>
              <a:srgbClr val="173E56"/>
            </a:solidFill>
            <a:prstDash val="solid"/>
            <a:tailEnd type="arrow" w="med" len="med"/>
          </a:ln>
        </p:spPr>
      </p:cxnSp>
      <p:cxnSp>
        <p:nvCxnSpPr>
          <p:cNvPr id="34" name="连接符: 肘形 33"/>
          <p:cNvCxnSpPr>
            <a:stCxn id="4" idx="2"/>
            <a:endCxn id="8" idx="1"/>
          </p:cNvCxnSpPr>
          <p:nvPr/>
        </p:nvCxnSpPr>
        <p:spPr>
          <a:xfrm>
            <a:off x="1666875" y="3381375"/>
            <a:ext cx="2047875" cy="1262063"/>
          </a:xfrm>
          <a:prstGeom prst="bentConnector5">
            <a:avLst>
              <a:gd name="adj1" fmla="val 0"/>
              <a:gd name="adj2" fmla="val 18113"/>
              <a:gd name="adj3" fmla="val 88837"/>
            </a:avLst>
          </a:prstGeom>
          <a:ln w="19050">
            <a:solidFill>
              <a:srgbClr val="173E56"/>
            </a:solidFill>
            <a:prstDash val="solid"/>
            <a:tailEnd type="arrow" w="med" len="med"/>
          </a:ln>
        </p:spPr>
      </p:cxnSp>
      <p:cxnSp>
        <p:nvCxnSpPr>
          <p:cNvPr id="35" name="直接箭头连接符 34"/>
          <p:cNvCxnSpPr>
            <a:stCxn id="6" idx="3"/>
            <a:endCxn id="7" idx="1"/>
          </p:cNvCxnSpPr>
          <p:nvPr/>
        </p:nvCxnSpPr>
        <p:spPr>
          <a:xfrm>
            <a:off x="8572500" y="2262188"/>
            <a:ext cx="1047750" cy="0"/>
          </a:xfrm>
          <a:prstGeom prst="straightConnector1">
            <a:avLst/>
          </a:prstGeom>
          <a:ln w="19050">
            <a:solidFill>
              <a:srgbClr val="173E56"/>
            </a:solidFill>
            <a:prstDash val="solid"/>
            <a:tailEnd type="arrow" w="med" len="med"/>
          </a:ln>
        </p:spPr>
      </p:cxnSp>
      <p:cxnSp>
        <p:nvCxnSpPr>
          <p:cNvPr id="36" name="直接箭头连接符 35"/>
          <p:cNvCxnSpPr>
            <a:stCxn id="5" idx="3"/>
            <a:endCxn id="6" idx="1"/>
          </p:cNvCxnSpPr>
          <p:nvPr/>
        </p:nvCxnSpPr>
        <p:spPr>
          <a:xfrm>
            <a:off x="5524500" y="2262188"/>
            <a:ext cx="1238250" cy="0"/>
          </a:xfrm>
          <a:prstGeom prst="straightConnector1">
            <a:avLst/>
          </a:prstGeom>
          <a:ln w="19050">
            <a:solidFill>
              <a:srgbClr val="173E56"/>
            </a:solidFill>
            <a:prstDash val="solid"/>
            <a:tailEnd type="arrow" w="med" len="med"/>
          </a:ln>
        </p:spPr>
      </p:cxnSp>
      <p:cxnSp>
        <p:nvCxnSpPr>
          <p:cNvPr id="37" name="连接符: 肘形 36"/>
          <p:cNvCxnSpPr>
            <a:stCxn id="4" idx="3"/>
            <a:endCxn id="5" idx="1"/>
          </p:cNvCxnSpPr>
          <p:nvPr/>
        </p:nvCxnSpPr>
        <p:spPr>
          <a:xfrm flipV="1">
            <a:off x="2571750" y="2262188"/>
            <a:ext cx="1143000" cy="666750"/>
          </a:xfrm>
          <a:prstGeom prst="bentConnector3">
            <a:avLst>
              <a:gd name="adj1" fmla="val 50000"/>
            </a:avLst>
          </a:prstGeom>
          <a:ln w="19050">
            <a:solidFill>
              <a:srgbClr val="173E56"/>
            </a:solidFill>
            <a:prstDash val="solid"/>
            <a:tailEnd type="arrow" w="med" len="med"/>
          </a:ln>
        </p:spPr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F3C9297B-E86B-4161-A231-0AC0C7CDE76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三 / 状态模式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231ED5-01CE-4383-BAF2-74F64BEA2680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39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DA9F2FD-C92A-4F84-A8FB-B39852B7286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订单状态迁移图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FC53001-2011-4953-B5BD-01D805739DE1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1809750" cy="904875"/>
          </a:xfrm>
          <a:prstGeom prst="roundRect">
            <a:avLst>
              <a:gd name="adj" fmla="val 8421"/>
            </a:avLst>
          </a:prstGeom>
          <a:solidFill>
            <a:srgbClr val="EAF2F9"/>
          </a:solidFill>
          <a:ln w="9525">
            <a:solidFill>
              <a:srgbClr val="173E56"/>
            </a:solidFill>
          </a:ln>
        </p:spPr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F53FAF4-7D3A-4352-8239-0B4422CB0890}"/>
              </a:ext>
            </a:extLst>
          </p:cNvPr>
          <p:cNvSpPr>
            <a:spLocks noGrp="1"/>
          </p:cNvSpPr>
          <p:nvPr/>
        </p:nvSpPr>
        <p:spPr>
          <a:xfrm>
            <a:off x="3714750" y="1809750"/>
            <a:ext cx="1809750" cy="904875"/>
          </a:xfrm>
          <a:prstGeom prst="roundRect">
            <a:avLst>
              <a:gd name="adj" fmla="val 8421"/>
            </a:avLst>
          </a:prstGeom>
          <a:solidFill>
            <a:srgbClr val="EAF5EF"/>
          </a:solidFill>
          <a:ln w="9525">
            <a:solidFill>
              <a:srgbClr val="15776E"/>
            </a:solidFill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201F258-3EE5-4267-B5CE-1744D05054B5}"/>
              </a:ext>
            </a:extLst>
          </p:cNvPr>
          <p:cNvSpPr>
            <a:spLocks noGrp="1"/>
          </p:cNvSpPr>
          <p:nvPr/>
        </p:nvSpPr>
        <p:spPr>
          <a:xfrm>
            <a:off x="6762750" y="1809750"/>
            <a:ext cx="1809750" cy="904875"/>
          </a:xfrm>
          <a:prstGeom prst="roundRect">
            <a:avLst>
              <a:gd name="adj" fmla="val 8421"/>
            </a:avLst>
          </a:prstGeom>
          <a:solidFill>
            <a:srgbClr val="FEF0E5"/>
          </a:solidFill>
          <a:ln w="9525">
            <a:solidFill>
              <a:srgbClr val="C96B2C"/>
            </a:solidFill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C5C7DAF-DD17-4631-8C53-7D2B10616645}"/>
              </a:ext>
            </a:extLst>
          </p:cNvPr>
          <p:cNvSpPr>
            <a:spLocks noGrp="1"/>
          </p:cNvSpPr>
          <p:nvPr/>
        </p:nvSpPr>
        <p:spPr>
          <a:xfrm>
            <a:off x="9620250" y="1809750"/>
            <a:ext cx="1809750" cy="904875"/>
          </a:xfrm>
          <a:prstGeom prst="roundRect">
            <a:avLst>
              <a:gd name="adj" fmla="val 8421"/>
            </a:avLst>
          </a:prstGeom>
          <a:solidFill>
            <a:srgbClr val="EAF5EF"/>
          </a:solidFill>
          <a:ln w="9525">
            <a:solidFill>
              <a:srgbClr val="15776E"/>
            </a:solidFill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4638976-CECB-47FE-8DB0-E7F87933CE02}"/>
              </a:ext>
            </a:extLst>
          </p:cNvPr>
          <p:cNvSpPr>
            <a:spLocks noGrp="1"/>
          </p:cNvSpPr>
          <p:nvPr/>
        </p:nvSpPr>
        <p:spPr>
          <a:xfrm>
            <a:off x="3714750" y="4191000"/>
            <a:ext cx="1809750" cy="904875"/>
          </a:xfrm>
          <a:prstGeom prst="roundRect">
            <a:avLst>
              <a:gd name="adj" fmla="val 8421"/>
            </a:avLst>
          </a:prstGeom>
          <a:solidFill>
            <a:srgbClr val="F3F0F0"/>
          </a:solidFill>
          <a:ln w="9525">
            <a:solidFill>
              <a:srgbClr val="8A5A5A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86A3B46-838B-46E1-A64B-4ED066E2CDB2}"/>
              </a:ext>
            </a:extLst>
          </p:cNvPr>
          <p:cNvSpPr>
            <a:spLocks noGrp="1"/>
          </p:cNvSpPr>
          <p:nvPr/>
        </p:nvSpPr>
        <p:spPr>
          <a:xfrm>
            <a:off x="857250" y="2695575"/>
            <a:ext cx="1619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00" b="1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C103C3-35FF-4C61-934D-86CB41AAF948}"/>
              </a:ext>
            </a:extLst>
          </p:cNvPr>
          <p:cNvSpPr>
            <a:spLocks noGrp="1"/>
          </p:cNvSpPr>
          <p:nvPr/>
        </p:nvSpPr>
        <p:spPr>
          <a:xfrm>
            <a:off x="3810000" y="2028825"/>
            <a:ext cx="1619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00" b="1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PAID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07B22E0-6631-4B4E-B747-5D2D8BE76877}"/>
              </a:ext>
            </a:extLst>
          </p:cNvPr>
          <p:cNvSpPr>
            <a:spLocks noGrp="1"/>
          </p:cNvSpPr>
          <p:nvPr/>
        </p:nvSpPr>
        <p:spPr>
          <a:xfrm>
            <a:off x="6858000" y="2028825"/>
            <a:ext cx="1619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00" b="1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SHIPPED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7AAE66-FC5C-4760-920E-E8946342A2F8}"/>
              </a:ext>
            </a:extLst>
          </p:cNvPr>
          <p:cNvSpPr>
            <a:spLocks noGrp="1"/>
          </p:cNvSpPr>
          <p:nvPr/>
        </p:nvSpPr>
        <p:spPr>
          <a:xfrm>
            <a:off x="9715500" y="2028825"/>
            <a:ext cx="1619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00" b="1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COMPLETED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E698C4-265B-4C0C-A95E-7D268EE3E00F}"/>
              </a:ext>
            </a:extLst>
          </p:cNvPr>
          <p:cNvSpPr>
            <a:spLocks noGrp="1"/>
          </p:cNvSpPr>
          <p:nvPr/>
        </p:nvSpPr>
        <p:spPr>
          <a:xfrm>
            <a:off x="3810000" y="4410075"/>
            <a:ext cx="1619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00" b="1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CANCELLED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AB433C8-6583-4B87-8FA8-8087EB4072B2}"/>
              </a:ext>
            </a:extLst>
          </p:cNvPr>
          <p:cNvSpPr>
            <a:spLocks noGrp="1"/>
          </p:cNvSpPr>
          <p:nvPr/>
        </p:nvSpPr>
        <p:spPr>
          <a:xfrm>
            <a:off x="2714625" y="1971675"/>
            <a:ext cx="762000" cy="2667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650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pay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84EB065-4392-4499-BC40-CD75AC81BC21}"/>
              </a:ext>
            </a:extLst>
          </p:cNvPr>
          <p:cNvSpPr>
            <a:spLocks noGrp="1"/>
          </p:cNvSpPr>
          <p:nvPr/>
        </p:nvSpPr>
        <p:spPr>
          <a:xfrm>
            <a:off x="5762625" y="2000250"/>
            <a:ext cx="762000" cy="2667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650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ship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1E67B62-C004-4F5B-A3C2-118F2CC7E67C}"/>
              </a:ext>
            </a:extLst>
          </p:cNvPr>
          <p:cNvSpPr>
            <a:spLocks noGrp="1"/>
          </p:cNvSpPr>
          <p:nvPr/>
        </p:nvSpPr>
        <p:spPr>
          <a:xfrm>
            <a:off x="8591550" y="1924050"/>
            <a:ext cx="1028700" cy="32385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650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receive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20258A4-AE59-49F4-9E57-61D39D749FB3}"/>
              </a:ext>
            </a:extLst>
          </p:cNvPr>
          <p:cNvSpPr>
            <a:spLocks noGrp="1"/>
          </p:cNvSpPr>
          <p:nvPr/>
        </p:nvSpPr>
        <p:spPr>
          <a:xfrm>
            <a:off x="2381250" y="4333875"/>
            <a:ext cx="857250" cy="2667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650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cancel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C143AB9-D6D0-4181-A572-9D8D5FB6A907}"/>
              </a:ext>
            </a:extLst>
          </p:cNvPr>
          <p:cNvSpPr>
            <a:spLocks noGrp="1"/>
          </p:cNvSpPr>
          <p:nvPr/>
        </p:nvSpPr>
        <p:spPr>
          <a:xfrm>
            <a:off x="4524375" y="3429000"/>
            <a:ext cx="857250" cy="2667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650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refund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1E17EDA-22C6-441F-AC7D-C1CFDFD636EA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F654650-14D5-458A-A388-6D465A667A97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414C83C-251A-4113-924F-A79B44028DDB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pay成功才进入PAID；未列出的动作由当前状态拒绝。</a:t>
            </a:r>
          </a:p>
        </p:txBody>
      </p:sp>
    </p:spTree>
    <p:extLst>
      <p:ext uri="{BB962C8B-B14F-4D97-AF65-F5344CB8AC3E}">
        <p14:creationId xmlns:p14="http://schemas.microsoft.com/office/powerpoint/2010/main" val="11944336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A24E027-1C6A-493F-8A0B-01A875E98E3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三 / 状态模式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53A407-A8FA-4781-80F3-3BEE1069AEAC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40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EDCCE2-7BB1-457D-B8FB-2722CA85DD2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状态模式的核心意图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5331DF-D964-4252-A2DC-C85813E1E1AD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CE84C9-BFFB-411C-8641-F3DA3DBBA549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5095875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CEBB46-444E-4D2D-9613-BA870B7B198B}"/>
              </a:ext>
            </a:extLst>
          </p:cNvPr>
          <p:cNvSpPr>
            <a:spLocks noGrp="1"/>
          </p:cNvSpPr>
          <p:nvPr/>
        </p:nvSpPr>
        <p:spPr>
          <a:xfrm>
            <a:off x="6515100" y="1819275"/>
            <a:ext cx="50673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稳定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966A14-2FFE-458D-B2BE-8213CA7373F9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5095875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同一动作在不同状态下有不同含义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动作可能触发状态迁移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4F76A6-DF16-48CE-9D8F-B1236AB75A7E}"/>
              </a:ext>
            </a:extLst>
          </p:cNvPr>
          <p:cNvSpPr>
            <a:spLocks noGrp="1"/>
          </p:cNvSpPr>
          <p:nvPr/>
        </p:nvSpPr>
        <p:spPr>
          <a:xfrm>
            <a:off x="6515100" y="2952750"/>
            <a:ext cx="5067300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Context保留统一业务入口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调用方不写状态判断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8228C7-AC58-4040-86E6-320AE2F8F13A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AAA3D76-F230-4EFC-BA9D-E31E3ADD44CF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849904-0615-4E39-99AD-1DA95089F82B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State把状态相关行为分配给不同状态对象。</a:t>
            </a:r>
          </a:p>
        </p:txBody>
      </p:sp>
    </p:spTree>
    <p:extLst>
      <p:ext uri="{BB962C8B-B14F-4D97-AF65-F5344CB8AC3E}">
        <p14:creationId xmlns:p14="http://schemas.microsoft.com/office/powerpoint/2010/main" val="16199680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3D31299-394F-466B-A90E-33D80BBC50D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三 / 状态模式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EEECFC-1084-4C62-AA65-E8AA8C84241B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41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F96547-E0AF-4941-94B0-4657F7D868A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状态模式的四个角色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BF3F8A-2A27-401E-93EB-64802B9405B6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Context 上下文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CF58E0-D1EC-419A-908D-433F3B01BD14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保存当前State并委托动作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A48BEC-97C1-4371-A509-1F661BD5A5DB}"/>
              </a:ext>
            </a:extLst>
          </p:cNvPr>
          <p:cNvSpPr>
            <a:spLocks noGrp="1"/>
          </p:cNvSpPr>
          <p:nvPr/>
        </p:nvSpPr>
        <p:spPr>
          <a:xfrm>
            <a:off x="6515100" y="1762125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状态模式 State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DECF12-7DFF-41BF-8993-781F03B0DBF2}"/>
              </a:ext>
            </a:extLst>
          </p:cNvPr>
          <p:cNvSpPr>
            <a:spLocks noGrp="1"/>
          </p:cNvSpPr>
          <p:nvPr/>
        </p:nvSpPr>
        <p:spPr>
          <a:xfrm>
            <a:off x="6515100" y="249555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声明所有状态相关操作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800E19-B40F-495C-A40E-F00508D8958B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ConcreteState 具体状态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081864-30EE-4E89-B535-66AD218D33AF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解释动作并决定迁移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777175-ABC7-4491-9863-90AEEFEDA5FB}"/>
              </a:ext>
            </a:extLst>
          </p:cNvPr>
          <p:cNvSpPr>
            <a:spLocks noGrp="1"/>
          </p:cNvSpPr>
          <p:nvPr/>
        </p:nvSpPr>
        <p:spPr>
          <a:xfrm>
            <a:off x="6515100" y="3905250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Client 客户端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13FB25-2A1F-4053-8252-DA7826382B15}"/>
              </a:ext>
            </a:extLst>
          </p:cNvPr>
          <p:cNvSpPr>
            <a:spLocks noGrp="1"/>
          </p:cNvSpPr>
          <p:nvPr/>
        </p:nvSpPr>
        <p:spPr>
          <a:xfrm>
            <a:off x="6515100" y="4638675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只调用Context的业务方法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E266E2-E71E-4DDB-8D71-C6974AAB5EE3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781D07E-BEB4-4C2C-B67A-7B1EE6E6C463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936770-DD18-4966-B651-3079C08A23E5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Order委托当前OrderState，由具体状态解释动作。</a:t>
            </a:r>
          </a:p>
        </p:txBody>
      </p:sp>
    </p:spTree>
    <p:extLst>
      <p:ext uri="{BB962C8B-B14F-4D97-AF65-F5344CB8AC3E}">
        <p14:creationId xmlns:p14="http://schemas.microsoft.com/office/powerpoint/2010/main" val="11682321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连接符: 肘形 39"/>
          <p:cNvCxnSpPr>
            <a:stCxn id="20" idx="3"/>
            <a:endCxn id="12" idx="2"/>
          </p:cNvCxnSpPr>
          <p:nvPr/>
        </p:nvCxnSpPr>
        <p:spPr>
          <a:xfrm flipV="1">
            <a:off x="6134100" y="4752975"/>
            <a:ext cx="2667000" cy="223838"/>
          </a:xfrm>
          <a:prstGeom prst="bentConnector2">
            <a:avLst/>
          </a:prstGeom>
          <a:ln w="19050">
            <a:solidFill>
              <a:srgbClr val="173E56"/>
            </a:solidFill>
            <a:prstDash val="solid"/>
          </a:ln>
        </p:spPr>
      </p:cxnSp>
      <p:cxnSp>
        <p:nvCxnSpPr>
          <p:cNvPr id="41" name="连接符: 肘形 40"/>
          <p:cNvCxnSpPr>
            <a:stCxn id="16" idx="0"/>
            <a:endCxn id="12" idx="1"/>
          </p:cNvCxnSpPr>
          <p:nvPr/>
        </p:nvCxnSpPr>
        <p:spPr>
          <a:xfrm flipV="1">
            <a:off x="1943100" y="4157663"/>
            <a:ext cx="4714875" cy="176213"/>
          </a:xfrm>
          <a:prstGeom prst="bentConnector3">
            <a:avLst>
              <a:gd name="adj1" fmla="val 0"/>
            </a:avLst>
          </a:prstGeom>
          <a:ln w="19050">
            <a:solidFill>
              <a:srgbClr val="173E56"/>
            </a:solidFill>
            <a:prstDash val="solid"/>
          </a:ln>
        </p:spPr>
      </p:cxnSp>
      <p:cxnSp>
        <p:nvCxnSpPr>
          <p:cNvPr id="42" name="直接箭头连接符 41"/>
          <p:cNvCxnSpPr>
            <a:stCxn id="12" idx="0"/>
            <a:endCxn id="8" idx="2"/>
          </p:cNvCxnSpPr>
          <p:nvPr/>
        </p:nvCxnSpPr>
        <p:spPr>
          <a:xfrm flipV="1">
            <a:off x="8801100" y="3200400"/>
            <a:ext cx="0" cy="361950"/>
          </a:xfrm>
          <a:prstGeom prst="straightConnector1">
            <a:avLst/>
          </a:prstGeom>
          <a:ln w="19050">
            <a:solidFill>
              <a:srgbClr val="173E56"/>
            </a:solidFill>
            <a:prstDash val="dash"/>
          </a:ln>
        </p:spPr>
      </p:cxnSp>
      <p:cxnSp>
        <p:nvCxnSpPr>
          <p:cNvPr id="43" name="直接箭头连接符 42"/>
          <p:cNvCxnSpPr>
            <a:stCxn id="4" idx="3"/>
            <a:endCxn id="8" idx="1"/>
          </p:cNvCxnSpPr>
          <p:nvPr/>
        </p:nvCxnSpPr>
        <p:spPr>
          <a:xfrm flipV="1">
            <a:off x="3990975" y="2414588"/>
            <a:ext cx="2047875" cy="328613"/>
          </a:xfrm>
          <a:prstGeom prst="straightConnector1">
            <a:avLst/>
          </a:prstGeom>
          <a:ln w="19050">
            <a:solidFill>
              <a:srgbClr val="173E56"/>
            </a:solidFill>
            <a:prstDash val="solid"/>
            <a:tailEnd type="arrow" w="med" len="med"/>
          </a:ln>
        </p:spPr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CDF977C1-DC09-4623-A68C-5DAAA1BA8E4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三 / 状态模式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78AB68-CF82-4777-A270-738E6B476012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42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4C0F12-2CD1-40DD-83BA-7C4D84955FB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状态模式：案例类图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AB5A51-2C5C-4377-9F0F-84A69CA70DC8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3381375" cy="1905000"/>
          </a:xfrm>
          <a:prstGeom prst="rect">
            <a:avLst/>
          </a:prstGeom>
          <a:solidFill>
            <a:srgbClr val="FAFCFC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418EA2-6208-4D32-91A4-15AAE2892CD9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3381375" cy="552450"/>
          </a:xfrm>
          <a:prstGeom prst="rect">
            <a:avLst/>
          </a:prstGeom>
          <a:solidFill>
            <a:srgbClr val="EAF2F4"/>
          </a:solidFill>
          <a:ln w="9525">
            <a:solidFill>
              <a:srgbClr val="CCD7DB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1FAE74-DAB0-4F74-B140-F08B7AFBA852}"/>
              </a:ext>
            </a:extLst>
          </p:cNvPr>
          <p:cNvSpPr>
            <a:spLocks noGrp="1"/>
          </p:cNvSpPr>
          <p:nvPr/>
        </p:nvSpPr>
        <p:spPr>
          <a:xfrm>
            <a:off x="704850" y="1828800"/>
            <a:ext cx="31908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«Context»</a:t>
            </a:r>
          </a:p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Order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24BE1E-621E-4578-A445-900BB1738845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307657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5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- state: OrderState</a:t>
            </a:r>
          </a:p>
          <a:p>
            <a:pPr algn="l">
              <a:buNone/>
              <a:defRPr sz="15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+ pay() / ship()</a:t>
            </a:r>
          </a:p>
          <a:p>
            <a:pPr algn="l">
              <a:buNone/>
              <a:defRPr sz="15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~ transitionTo(next)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EEA5D5-9AE0-4347-ADD5-EF9341C4941F}"/>
              </a:ext>
            </a:extLst>
          </p:cNvPr>
          <p:cNvSpPr>
            <a:spLocks noGrp="1"/>
          </p:cNvSpPr>
          <p:nvPr/>
        </p:nvSpPr>
        <p:spPr>
          <a:xfrm>
            <a:off x="6038850" y="1628775"/>
            <a:ext cx="5524500" cy="1571625"/>
          </a:xfrm>
          <a:prstGeom prst="rect">
            <a:avLst/>
          </a:prstGeom>
          <a:solidFill>
            <a:srgbClr val="FAFCFC"/>
          </a:solidFill>
          <a:ln w="9525">
            <a:solidFill>
              <a:srgbClr val="CCD7DB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FA318B3-9D7A-45A7-B015-A8DF7D0520A8}"/>
              </a:ext>
            </a:extLst>
          </p:cNvPr>
          <p:cNvSpPr>
            <a:spLocks noGrp="1"/>
          </p:cNvSpPr>
          <p:nvPr/>
        </p:nvSpPr>
        <p:spPr>
          <a:xfrm>
            <a:off x="6038850" y="1628775"/>
            <a:ext cx="5524500" cy="552450"/>
          </a:xfrm>
          <a:prstGeom prst="rect">
            <a:avLst/>
          </a:prstGeom>
          <a:solidFill>
            <a:srgbClr val="EAF2F4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253E941-4D17-4EC0-88E5-6CAEDE9D9B91}"/>
              </a:ext>
            </a:extLst>
          </p:cNvPr>
          <p:cNvSpPr>
            <a:spLocks noGrp="1"/>
          </p:cNvSpPr>
          <p:nvPr/>
        </p:nvSpPr>
        <p:spPr>
          <a:xfrm>
            <a:off x="6134100" y="1666875"/>
            <a:ext cx="5334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«interface»</a:t>
            </a:r>
          </a:p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OrderState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D7718E-5F85-4B48-8F6C-9A3BCF41B2AB}"/>
              </a:ext>
            </a:extLst>
          </p:cNvPr>
          <p:cNvSpPr>
            <a:spLocks noGrp="1"/>
          </p:cNvSpPr>
          <p:nvPr/>
        </p:nvSpPr>
        <p:spPr>
          <a:xfrm>
            <a:off x="6191250" y="2295525"/>
            <a:ext cx="5219700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5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+ pay(order) / ship(order)</a:t>
            </a:r>
          </a:p>
          <a:p>
            <a:pPr algn="l">
              <a:buNone/>
              <a:defRPr sz="15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+ cancel / refund / receive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DC97E0-5803-4A37-B968-BF25E28671D1}"/>
              </a:ext>
            </a:extLst>
          </p:cNvPr>
          <p:cNvSpPr>
            <a:spLocks noGrp="1"/>
          </p:cNvSpPr>
          <p:nvPr/>
        </p:nvSpPr>
        <p:spPr>
          <a:xfrm>
            <a:off x="6657975" y="3562350"/>
            <a:ext cx="4286250" cy="1190625"/>
          </a:xfrm>
          <a:prstGeom prst="rect">
            <a:avLst/>
          </a:prstGeom>
          <a:solidFill>
            <a:srgbClr val="FAFCFC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68D31D-6F5A-4834-8D5A-867C9DB5ECA4}"/>
              </a:ext>
            </a:extLst>
          </p:cNvPr>
          <p:cNvSpPr>
            <a:spLocks noGrp="1"/>
          </p:cNvSpPr>
          <p:nvPr/>
        </p:nvSpPr>
        <p:spPr>
          <a:xfrm>
            <a:off x="6657975" y="3562350"/>
            <a:ext cx="4286250" cy="552450"/>
          </a:xfrm>
          <a:prstGeom prst="rect">
            <a:avLst/>
          </a:prstGeom>
          <a:solidFill>
            <a:srgbClr val="EAF2F4"/>
          </a:solidFill>
          <a:ln w="9525">
            <a:solidFill>
              <a:srgbClr val="CCD7DB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69CC200-7E46-4472-83AD-F988ED8E7889}"/>
              </a:ext>
            </a:extLst>
          </p:cNvPr>
          <p:cNvSpPr>
            <a:spLocks noGrp="1"/>
          </p:cNvSpPr>
          <p:nvPr/>
        </p:nvSpPr>
        <p:spPr>
          <a:xfrm>
            <a:off x="6753225" y="3600450"/>
            <a:ext cx="4095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«abstract»</a:t>
            </a:r>
          </a:p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BaseOrderState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ACF54D-5C9C-4EF9-9F30-F2A10323DEAF}"/>
              </a:ext>
            </a:extLst>
          </p:cNvPr>
          <p:cNvSpPr>
            <a:spLocks noGrp="1"/>
          </p:cNvSpPr>
          <p:nvPr/>
        </p:nvSpPr>
        <p:spPr>
          <a:xfrm>
            <a:off x="6810375" y="4229100"/>
            <a:ext cx="39814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5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默认拒绝非法动作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000F34-85DD-423E-AEA2-45CB6C5834D9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2667000" cy="1285875"/>
          </a:xfrm>
          <a:prstGeom prst="rect">
            <a:avLst/>
          </a:prstGeom>
          <a:solidFill>
            <a:srgbClr val="FAFCFC"/>
          </a:solidFill>
          <a:ln w="9525">
            <a:solidFill>
              <a:srgbClr val="CCD7DB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356D29E-0966-4B59-B5FC-AEB6A27EEBB4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2667000" cy="552450"/>
          </a:xfrm>
          <a:prstGeom prst="rect">
            <a:avLst/>
          </a:prstGeom>
          <a:solidFill>
            <a:srgbClr val="EAF2F4"/>
          </a:solidFill>
          <a:ln w="9525">
            <a:solidFill>
              <a:srgbClr val="CCD7DB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2DAFE2-6FC3-42AC-BC45-115EE1234C8B}"/>
              </a:ext>
            </a:extLst>
          </p:cNvPr>
          <p:cNvSpPr>
            <a:spLocks noGrp="1"/>
          </p:cNvSpPr>
          <p:nvPr/>
        </p:nvSpPr>
        <p:spPr>
          <a:xfrm>
            <a:off x="704850" y="4371975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«ConcreteState»</a:t>
            </a:r>
          </a:p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PendingState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041FF7-BD62-489B-A118-B49421B5E096}"/>
              </a:ext>
            </a:extLst>
          </p:cNvPr>
          <p:cNvSpPr>
            <a:spLocks noGrp="1"/>
          </p:cNvSpPr>
          <p:nvPr/>
        </p:nvSpPr>
        <p:spPr>
          <a:xfrm>
            <a:off x="762000" y="5000625"/>
            <a:ext cx="236220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5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pay / cancel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554E577-01F6-4F53-B01D-434515CBC7E0}"/>
              </a:ext>
            </a:extLst>
          </p:cNvPr>
          <p:cNvSpPr>
            <a:spLocks noGrp="1"/>
          </p:cNvSpPr>
          <p:nvPr/>
        </p:nvSpPr>
        <p:spPr>
          <a:xfrm>
            <a:off x="3752850" y="4333875"/>
            <a:ext cx="2381250" cy="1285875"/>
          </a:xfrm>
          <a:prstGeom prst="rect">
            <a:avLst/>
          </a:prstGeom>
          <a:solidFill>
            <a:srgbClr val="FAFCFC"/>
          </a:solidFill>
          <a:ln w="9525">
            <a:solidFill>
              <a:srgbClr val="CCD7DB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8C7E7B3-23E8-432E-B97C-A2D20891114B}"/>
              </a:ext>
            </a:extLst>
          </p:cNvPr>
          <p:cNvSpPr>
            <a:spLocks noGrp="1"/>
          </p:cNvSpPr>
          <p:nvPr/>
        </p:nvSpPr>
        <p:spPr>
          <a:xfrm>
            <a:off x="3752850" y="4333875"/>
            <a:ext cx="2381250" cy="552450"/>
          </a:xfrm>
          <a:prstGeom prst="rect">
            <a:avLst/>
          </a:prstGeom>
          <a:solidFill>
            <a:srgbClr val="EAF2F4"/>
          </a:solidFill>
          <a:ln w="9525">
            <a:solidFill>
              <a:srgbClr val="CCD7DB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2F8FA1-8E9C-4BBD-BE09-08939581B36C}"/>
              </a:ext>
            </a:extLst>
          </p:cNvPr>
          <p:cNvSpPr>
            <a:spLocks noGrp="1"/>
          </p:cNvSpPr>
          <p:nvPr/>
        </p:nvSpPr>
        <p:spPr>
          <a:xfrm>
            <a:off x="3848100" y="4371975"/>
            <a:ext cx="21907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«ConcreteState»</a:t>
            </a:r>
          </a:p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PaidState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D2B6E48-37DA-43BF-A00D-7D192F6FAE58}"/>
              </a:ext>
            </a:extLst>
          </p:cNvPr>
          <p:cNvSpPr>
            <a:spLocks noGrp="1"/>
          </p:cNvSpPr>
          <p:nvPr/>
        </p:nvSpPr>
        <p:spPr>
          <a:xfrm>
            <a:off x="3905250" y="5000625"/>
            <a:ext cx="20764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5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ship / refund</a:t>
            </a:r>
          </a:p>
        </p:txBody>
      </p:sp>
      <p:sp>
        <p:nvSpPr>
          <p:cNvPr id="26" name="等腰三角形 25">
            <a:extLst>
              <a:ext uri="{FF2B5EF4-FFF2-40B4-BE49-F238E27FC236}">
                <a16:creationId xmlns:a16="http://schemas.microsoft.com/office/drawing/2014/main" id="{8E658D0C-95C7-4FB6-853C-EE624ADB50E0}"/>
              </a:ext>
            </a:extLst>
          </p:cNvPr>
          <p:cNvSpPr>
            <a:spLocks noGrp="1"/>
          </p:cNvSpPr>
          <p:nvPr/>
        </p:nvSpPr>
        <p:spPr>
          <a:xfrm>
            <a:off x="8686800" y="3200400"/>
            <a:ext cx="228600" cy="190500"/>
          </a:xfrm>
          <a:prstGeom prst="triangle">
            <a:avLst/>
          </a:prstGeom>
          <a:solidFill>
            <a:srgbClr val="FAFCFC"/>
          </a:solidFill>
          <a:ln w="19050">
            <a:solidFill>
              <a:srgbClr val="173E56"/>
            </a:solidFill>
          </a:ln>
        </p:spPr>
      </p:sp>
      <p:sp>
        <p:nvSpPr>
          <p:cNvPr id="28" name="等腰三角形 27">
            <a:extLst>
              <a:ext uri="{FF2B5EF4-FFF2-40B4-BE49-F238E27FC236}">
                <a16:creationId xmlns:a16="http://schemas.microsoft.com/office/drawing/2014/main" id="{8082D721-D840-47CC-B7CB-A1B74FAEA458}"/>
              </a:ext>
            </a:extLst>
          </p:cNvPr>
          <p:cNvSpPr>
            <a:spLocks noGrp="1"/>
          </p:cNvSpPr>
          <p:nvPr/>
        </p:nvSpPr>
        <p:spPr>
          <a:xfrm rot="5400000">
            <a:off x="6448425" y="4062413"/>
            <a:ext cx="228600" cy="190500"/>
          </a:xfrm>
          <a:prstGeom prst="triangle">
            <a:avLst/>
          </a:prstGeom>
          <a:solidFill>
            <a:srgbClr val="FAFCFC"/>
          </a:solidFill>
          <a:ln w="19050">
            <a:solidFill>
              <a:srgbClr val="173E56"/>
            </a:solidFill>
          </a:ln>
        </p:spPr>
      </p:sp>
      <p:sp>
        <p:nvSpPr>
          <p:cNvPr id="30" name="等腰三角形 29">
            <a:extLst>
              <a:ext uri="{FF2B5EF4-FFF2-40B4-BE49-F238E27FC236}">
                <a16:creationId xmlns:a16="http://schemas.microsoft.com/office/drawing/2014/main" id="{D6E1426B-5845-4FB0-A050-63A149106CC0}"/>
              </a:ext>
            </a:extLst>
          </p:cNvPr>
          <p:cNvSpPr>
            <a:spLocks noGrp="1"/>
          </p:cNvSpPr>
          <p:nvPr/>
        </p:nvSpPr>
        <p:spPr>
          <a:xfrm>
            <a:off x="8686800" y="4752975"/>
            <a:ext cx="228600" cy="190500"/>
          </a:xfrm>
          <a:prstGeom prst="triangle">
            <a:avLst/>
          </a:prstGeom>
          <a:solidFill>
            <a:srgbClr val="FAFCFC"/>
          </a:solidFill>
          <a:ln w="19050">
            <a:solidFill>
              <a:srgbClr val="173E56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7FC1DE1-5266-4070-974B-71E9BF63C795}"/>
              </a:ext>
            </a:extLst>
          </p:cNvPr>
          <p:cNvSpPr>
            <a:spLocks noGrp="1"/>
          </p:cNvSpPr>
          <p:nvPr/>
        </p:nvSpPr>
        <p:spPr>
          <a:xfrm>
            <a:off x="6848475" y="5153025"/>
            <a:ext cx="45529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800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其余具体状态同样继承基类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6A9E100-66F0-4B1E-AA88-3F0281EE7D38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C4AE3DF-3DE2-4AA8-AF59-E1F5C513D96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1131021-683C-473B-8E52-977BF850ED96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Context持有接口；基类统一拒绝，具体状态覆盖合法动作。</a:t>
            </a:r>
          </a:p>
        </p:txBody>
      </p:sp>
    </p:spTree>
    <p:extLst>
      <p:ext uri="{BB962C8B-B14F-4D97-AF65-F5344CB8AC3E}">
        <p14:creationId xmlns:p14="http://schemas.microsoft.com/office/powerpoint/2010/main" val="10415887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C932B60-7A54-4116-B9A8-2F301ED8FAC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三 / 状态模式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32E4AF-8B6C-46F0-B6A9-34ED37C7CFA6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43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3E7E98-833D-4373-A97C-63BF35496E64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状态模式接口列出状态相关动作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1DC9BC-D1D4-4A93-80C6-E70AAC8D393C}"/>
              </a:ext>
            </a:extLst>
          </p:cNvPr>
          <p:cNvSpPr>
            <a:spLocks noGrp="1"/>
          </p:cNvSpPr>
          <p:nvPr/>
        </p:nvSpPr>
        <p:spPr>
          <a:xfrm>
            <a:off x="8467725" y="1676400"/>
            <a:ext cx="9525" cy="3905250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C2FDA2-F8EC-4A51-AD40-DF34BA6DAFB3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7572375" cy="2352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public interface OrderState {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String name();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void pay(Order order);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void cancel(Order order);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void ship(Order order);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void refund(Order order);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void receive(Order order);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C716C9-5E9D-4790-9759-0BB4166C8A73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接口来自领域动作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A8CAC0-739C-4BA3-9509-2B1A139685EB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所有状态遵守同一契约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2FA785F-1086-4142-B89B-0D53C4A194B4}"/>
              </a:ext>
            </a:extLst>
          </p:cNvPr>
          <p:cNvSpPr>
            <a:spLocks noGrp="1"/>
          </p:cNvSpPr>
          <p:nvPr/>
        </p:nvSpPr>
        <p:spPr>
          <a:xfrm>
            <a:off x="8763000" y="36766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当前状态明确拒绝非法动作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66C3C4-BDE7-422F-A0BD-DFFB2B6537E2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54CC51-9681-4E16-895F-4CE86FCCFC79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7C5F3C6-FEF5-46FB-97DF-ECF2D0718B7E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OrderState列出订单生命周期中的动作，所有具体状态遵守这一契约。</a:t>
            </a:r>
          </a:p>
        </p:txBody>
      </p:sp>
    </p:spTree>
    <p:extLst>
      <p:ext uri="{BB962C8B-B14F-4D97-AF65-F5344CB8AC3E}">
        <p14:creationId xmlns:p14="http://schemas.microsoft.com/office/powerpoint/2010/main" val="10417959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ADA14BA-A078-4353-9EEB-7021391F86E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三 / 状态模式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DC28D2B-3400-433A-A1C2-6578B4FED655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44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C79398-12CE-4952-9D57-6B523A221A1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待支付状态：支付成功才迁移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34427C-0832-4876-BD26-676F0CC818F4}"/>
              </a:ext>
            </a:extLst>
          </p:cNvPr>
          <p:cNvSpPr>
            <a:spLocks noGrp="1"/>
          </p:cNvSpPr>
          <p:nvPr/>
        </p:nvSpPr>
        <p:spPr>
          <a:xfrm>
            <a:off x="8467725" y="1676400"/>
            <a:ext cx="9525" cy="3905250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E3D71F-8D2F-429E-9F31-0EA8C4C30260}"/>
              </a:ext>
            </a:extLst>
          </p:cNvPr>
          <p:cNvSpPr>
            <a:spLocks noGrp="1"/>
          </p:cNvSpPr>
          <p:nvPr/>
        </p:nvSpPr>
        <p:spPr>
          <a:xfrm>
            <a:off x="609600" y="2109788"/>
            <a:ext cx="7572375" cy="3181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public final class PendingState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extends BaseOrderState {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public void pay(Order order) {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if (!order.paymentGateway().charge(order)) {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  throw new IllegalStateException(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      "PAYMENT_REJECTED");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order.transitionTo(new PaidState());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// 省略 name() 与 cancel()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997B9E-3F28-4C7F-ACAD-84E8D5D4BB76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先检查支付结果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9D2924-E5E4-4BCD-9A6B-045AD7AF21D8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拒绝时保持原状态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26F7A4-55C4-4249-9B2D-AE1FE5EAA004}"/>
              </a:ext>
            </a:extLst>
          </p:cNvPr>
          <p:cNvSpPr>
            <a:spLocks noGrp="1"/>
          </p:cNvSpPr>
          <p:nvPr/>
        </p:nvSpPr>
        <p:spPr>
          <a:xfrm>
            <a:off x="8763000" y="36766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成功后进入PaidState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B130DD-6B20-4634-B9E0-BE33AE2A8DE9}"/>
              </a:ext>
            </a:extLst>
          </p:cNvPr>
          <p:cNvSpPr>
            <a:spLocks noGrp="1"/>
          </p:cNvSpPr>
          <p:nvPr/>
        </p:nvSpPr>
        <p:spPr>
          <a:xfrm>
            <a:off x="8763000" y="45148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基类默认拒绝其他动作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1DC838F-4592-460C-97DA-00B84378CF41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CFBA1C-7978-411C-8F5F-C3231DF4873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505A1B8-517E-47B7-B6B9-AF9559EE341B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先检查支付结果，再改变状态；支付拒绝时保持PENDING。</a:t>
            </a:r>
          </a:p>
        </p:txBody>
      </p:sp>
    </p:spTree>
    <p:extLst>
      <p:ext uri="{BB962C8B-B14F-4D97-AF65-F5344CB8AC3E}">
        <p14:creationId xmlns:p14="http://schemas.microsoft.com/office/powerpoint/2010/main" val="4905905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DCF5A5F-633D-4F3A-AE13-344CFF0261A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三 / 状态模式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D94860B-0A49-41D1-8B36-E9CB3BDA90BB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45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75EF2F-90F3-4F6A-8FBE-9950D0A6128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Order把动作委托给当前状态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2DA5DE-4F9D-4744-A026-1FC4CAE1086C}"/>
              </a:ext>
            </a:extLst>
          </p:cNvPr>
          <p:cNvSpPr>
            <a:spLocks noGrp="1"/>
          </p:cNvSpPr>
          <p:nvPr/>
        </p:nvSpPr>
        <p:spPr>
          <a:xfrm>
            <a:off x="8467725" y="1676400"/>
            <a:ext cx="9525" cy="3905250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47899E-D7BC-46BB-AD22-3DA43B400F85}"/>
              </a:ext>
            </a:extLst>
          </p:cNvPr>
          <p:cNvSpPr>
            <a:spLocks noGrp="1"/>
          </p:cNvSpPr>
          <p:nvPr/>
        </p:nvSpPr>
        <p:spPr>
          <a:xfrm>
            <a:off x="609600" y="2109788"/>
            <a:ext cx="7572375" cy="3181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public final class Order {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private OrderState state = new PendingState();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private final PaymentGateway paymentGateway;</a:t>
            </a:r>
          </a:p>
          <a:p>
            <a:endParaRPr sz="1800" b="0">
              <a:solidFill>
                <a:srgbClr val="263642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public void pay() { state.pay(this); }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public void refund() { state.refund(this); }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public String status() { return state.name(); }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void transitionTo(OrderState next) {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  state = next;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buNone/>
              <a:defRPr sz="1800" b="0">
                <a:solidFill>
                  <a:srgbClr val="2636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64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3FFCD1-AD3F-48D1-B0A3-E1252C640D4C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Order仍是领域入口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79AAEC-DA31-49E3-94D4-00EF451617BB}"/>
              </a:ext>
            </a:extLst>
          </p:cNvPr>
          <p:cNvSpPr>
            <a:spLocks noGrp="1"/>
          </p:cNvSpPr>
          <p:nvPr/>
        </p:nvSpPr>
        <p:spPr>
          <a:xfrm>
            <a:off x="8763000" y="28384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支付网关是Context的协作者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84E101-7695-4773-831D-54D232312CB2}"/>
              </a:ext>
            </a:extLst>
          </p:cNvPr>
          <p:cNvSpPr>
            <a:spLocks noGrp="1"/>
          </p:cNvSpPr>
          <p:nvPr/>
        </p:nvSpPr>
        <p:spPr>
          <a:xfrm>
            <a:off x="8763000" y="3676650"/>
            <a:ext cx="28194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State负责解释动作并决定迁移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94E7B9-7D07-4A7E-8CB5-59241BA57F5D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259BD4C-A105-497D-AC9B-7DF14A459563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B335D3-4346-4955-BBD6-4177BC1B586D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Order保留业务入口，当前状态决定具体行为与迁移。</a:t>
            </a:r>
          </a:p>
        </p:txBody>
      </p:sp>
    </p:spTree>
    <p:extLst>
      <p:ext uri="{BB962C8B-B14F-4D97-AF65-F5344CB8AC3E}">
        <p14:creationId xmlns:p14="http://schemas.microsoft.com/office/powerpoint/2010/main" val="7014630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F3CA1ADA-333D-4A10-8696-1E3E1430245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三 / 状态模式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3D15B8A-1DD4-400F-9963-AC361CEFAA84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46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369AA2-6B58-4535-95EA-9E0FCDCEA34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状态模式：一次订单支付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1826B96-E90B-4018-8A8D-F924749E1EE7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2628900" cy="571500"/>
          </a:xfrm>
          <a:prstGeom prst="roundRect">
            <a:avLst>
              <a:gd name="adj" fmla="val 13333"/>
            </a:avLst>
          </a:prstGeom>
          <a:solidFill>
            <a:srgbClr val="EAF2F9"/>
          </a:solidFill>
          <a:ln w="9525">
            <a:solidFill>
              <a:srgbClr val="173E56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A306CF-6DD3-4749-AACA-BC1134693355}"/>
              </a:ext>
            </a:extLst>
          </p:cNvPr>
          <p:cNvSpPr>
            <a:spLocks noGrp="1"/>
          </p:cNvSpPr>
          <p:nvPr/>
        </p:nvSpPr>
        <p:spPr>
          <a:xfrm>
            <a:off x="704850" y="1676400"/>
            <a:ext cx="24384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Client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D4B3C794-A928-4DDB-A1B2-C83CD3DB98D6}"/>
              </a:ext>
            </a:extLst>
          </p:cNvPr>
          <p:cNvSpPr>
            <a:spLocks noGrp="1"/>
          </p:cNvSpPr>
          <p:nvPr/>
        </p:nvSpPr>
        <p:spPr>
          <a:xfrm>
            <a:off x="1924050" y="2209800"/>
            <a:ext cx="0" cy="3429000"/>
          </a:xfrm>
          <a:prstGeom prst="line">
            <a:avLst/>
          </a:prstGeom>
          <a:noFill/>
          <a:ln w="9525">
            <a:solidFill>
              <a:srgbClr val="9AA8B5"/>
            </a:solidFill>
            <a:prstDash val="dash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59DEBB3-21AC-441C-8E5A-127ACD02C72C}"/>
              </a:ext>
            </a:extLst>
          </p:cNvPr>
          <p:cNvSpPr>
            <a:spLocks noGrp="1"/>
          </p:cNvSpPr>
          <p:nvPr/>
        </p:nvSpPr>
        <p:spPr>
          <a:xfrm>
            <a:off x="3390900" y="1638300"/>
            <a:ext cx="2628900" cy="571500"/>
          </a:xfrm>
          <a:prstGeom prst="roundRect">
            <a:avLst>
              <a:gd name="adj" fmla="val 13333"/>
            </a:avLst>
          </a:prstGeom>
          <a:solidFill>
            <a:srgbClr val="EAF5EF"/>
          </a:solidFill>
          <a:ln w="9525">
            <a:solidFill>
              <a:srgbClr val="15776E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3EF0BA-C209-4B63-8819-784D91BACB83}"/>
              </a:ext>
            </a:extLst>
          </p:cNvPr>
          <p:cNvSpPr>
            <a:spLocks noGrp="1"/>
          </p:cNvSpPr>
          <p:nvPr/>
        </p:nvSpPr>
        <p:spPr>
          <a:xfrm>
            <a:off x="3486150" y="1676400"/>
            <a:ext cx="24384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Order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F3151E71-97D2-4033-95A6-8925933DFA94}"/>
              </a:ext>
            </a:extLst>
          </p:cNvPr>
          <p:cNvSpPr>
            <a:spLocks noGrp="1"/>
          </p:cNvSpPr>
          <p:nvPr/>
        </p:nvSpPr>
        <p:spPr>
          <a:xfrm>
            <a:off x="4705350" y="2209800"/>
            <a:ext cx="0" cy="3429000"/>
          </a:xfrm>
          <a:prstGeom prst="line">
            <a:avLst/>
          </a:prstGeom>
          <a:noFill/>
          <a:ln w="9525">
            <a:solidFill>
              <a:srgbClr val="9AA8B5"/>
            </a:solidFill>
            <a:prstDash val="dash"/>
          </a:ln>
        </p:spPr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422098F-7B9C-42C9-B50F-89D29DD1F764}"/>
              </a:ext>
            </a:extLst>
          </p:cNvPr>
          <p:cNvSpPr>
            <a:spLocks noGrp="1"/>
          </p:cNvSpPr>
          <p:nvPr/>
        </p:nvSpPr>
        <p:spPr>
          <a:xfrm>
            <a:off x="6172200" y="1638300"/>
            <a:ext cx="2628900" cy="571500"/>
          </a:xfrm>
          <a:prstGeom prst="roundRect">
            <a:avLst>
              <a:gd name="adj" fmla="val 13333"/>
            </a:avLst>
          </a:prstGeom>
          <a:solidFill>
            <a:srgbClr val="EAF5EF"/>
          </a:solidFill>
          <a:ln w="9525">
            <a:solidFill>
              <a:srgbClr val="15776E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D3E9B3-D1C0-4A13-A3D3-0E072406078B}"/>
              </a:ext>
            </a:extLst>
          </p:cNvPr>
          <p:cNvSpPr>
            <a:spLocks noGrp="1"/>
          </p:cNvSpPr>
          <p:nvPr/>
        </p:nvSpPr>
        <p:spPr>
          <a:xfrm>
            <a:off x="6267450" y="1676400"/>
            <a:ext cx="24384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PendingState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263FA194-C40F-424C-910D-D9CCC601E52E}"/>
              </a:ext>
            </a:extLst>
          </p:cNvPr>
          <p:cNvSpPr>
            <a:spLocks noGrp="1"/>
          </p:cNvSpPr>
          <p:nvPr/>
        </p:nvSpPr>
        <p:spPr>
          <a:xfrm>
            <a:off x="7486650" y="2209800"/>
            <a:ext cx="0" cy="3429000"/>
          </a:xfrm>
          <a:prstGeom prst="line">
            <a:avLst/>
          </a:prstGeom>
          <a:noFill/>
          <a:ln w="9525">
            <a:solidFill>
              <a:srgbClr val="9AA8B5"/>
            </a:solidFill>
            <a:prstDash val="dash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CC955BE-CE64-4109-A065-E84EF5E91D7E}"/>
              </a:ext>
            </a:extLst>
          </p:cNvPr>
          <p:cNvSpPr>
            <a:spLocks noGrp="1"/>
          </p:cNvSpPr>
          <p:nvPr/>
        </p:nvSpPr>
        <p:spPr>
          <a:xfrm>
            <a:off x="8953500" y="1638300"/>
            <a:ext cx="2628900" cy="571500"/>
          </a:xfrm>
          <a:prstGeom prst="roundRect">
            <a:avLst>
              <a:gd name="adj" fmla="val 13333"/>
            </a:avLst>
          </a:prstGeom>
          <a:solidFill>
            <a:srgbClr val="EAF5EF"/>
          </a:solidFill>
          <a:ln w="9525">
            <a:solidFill>
              <a:srgbClr val="15776E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28C6223-32C5-4697-94F0-F630BC6B4B29}"/>
              </a:ext>
            </a:extLst>
          </p:cNvPr>
          <p:cNvSpPr>
            <a:spLocks noGrp="1"/>
          </p:cNvSpPr>
          <p:nvPr/>
        </p:nvSpPr>
        <p:spPr>
          <a:xfrm>
            <a:off x="9048750" y="1676400"/>
            <a:ext cx="24384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PaymentGateway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53849E26-AB5F-4B04-9AD9-BC4CEE418C69}"/>
              </a:ext>
            </a:extLst>
          </p:cNvPr>
          <p:cNvSpPr>
            <a:spLocks noGrp="1"/>
          </p:cNvSpPr>
          <p:nvPr/>
        </p:nvSpPr>
        <p:spPr>
          <a:xfrm>
            <a:off x="10267950" y="2209800"/>
            <a:ext cx="0" cy="3429000"/>
          </a:xfrm>
          <a:prstGeom prst="line">
            <a:avLst/>
          </a:prstGeom>
          <a:noFill/>
          <a:ln w="9525">
            <a:solidFill>
              <a:srgbClr val="9AA8B5"/>
            </a:solidFill>
            <a:prstDash val="dash"/>
          </a:ln>
        </p:spPr>
      </p:sp>
      <p:cxnSp>
        <p:nvCxnSpPr>
          <p:cNvPr id="68" name="直接箭头连接符 67"/>
          <p:cNvCxnSpPr/>
          <p:nvPr/>
        </p:nvCxnSpPr>
        <p:spPr>
          <a:xfrm>
            <a:off x="1924050" y="2667000"/>
            <a:ext cx="2781300" cy="0"/>
          </a:xfrm>
          <a:prstGeom prst="straightConnector1">
            <a:avLst/>
          </a:prstGeom>
          <a:ln w="19050">
            <a:solidFill>
              <a:srgbClr val="173E56"/>
            </a:solidFill>
            <a:prstDash val="solid"/>
            <a:tailEnd type="arrow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D3DD1763-5A41-45F2-8BB0-53C054CD6185}"/>
              </a:ext>
            </a:extLst>
          </p:cNvPr>
          <p:cNvSpPr>
            <a:spLocks noGrp="1"/>
          </p:cNvSpPr>
          <p:nvPr/>
        </p:nvSpPr>
        <p:spPr>
          <a:xfrm>
            <a:off x="2019300" y="2343150"/>
            <a:ext cx="2590800" cy="3048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1. pay()</a:t>
            </a:r>
          </a:p>
        </p:txBody>
      </p:sp>
      <p:cxnSp>
        <p:nvCxnSpPr>
          <p:cNvPr id="70" name="直接箭头连接符 69"/>
          <p:cNvCxnSpPr/>
          <p:nvPr/>
        </p:nvCxnSpPr>
        <p:spPr>
          <a:xfrm>
            <a:off x="4705350" y="3286125"/>
            <a:ext cx="2781300" cy="0"/>
          </a:xfrm>
          <a:prstGeom prst="straightConnector1">
            <a:avLst/>
          </a:prstGeom>
          <a:ln w="19050">
            <a:solidFill>
              <a:srgbClr val="173E56"/>
            </a:solidFill>
            <a:prstDash val="solid"/>
            <a:tailEnd type="arrow" w="med" len="me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AF63335-C6BC-40F0-B5A7-5B90BF6E6B46}"/>
              </a:ext>
            </a:extLst>
          </p:cNvPr>
          <p:cNvSpPr>
            <a:spLocks noGrp="1"/>
          </p:cNvSpPr>
          <p:nvPr/>
        </p:nvSpPr>
        <p:spPr>
          <a:xfrm>
            <a:off x="4800600" y="2962275"/>
            <a:ext cx="2590800" cy="3048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2. pay(this)</a:t>
            </a:r>
          </a:p>
        </p:txBody>
      </p:sp>
      <p:cxnSp>
        <p:nvCxnSpPr>
          <p:cNvPr id="72" name="直接箭头连接符 71"/>
          <p:cNvCxnSpPr/>
          <p:nvPr/>
        </p:nvCxnSpPr>
        <p:spPr>
          <a:xfrm>
            <a:off x="7486650" y="3905250"/>
            <a:ext cx="2781300" cy="0"/>
          </a:xfrm>
          <a:prstGeom prst="straightConnector1">
            <a:avLst/>
          </a:prstGeom>
          <a:ln w="19050">
            <a:solidFill>
              <a:srgbClr val="173E56"/>
            </a:solidFill>
            <a:prstDash val="solid"/>
            <a:tailEnd type="arrow" w="med" len="med"/>
          </a:ln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1DEF5DA9-444D-4A05-AB33-B080BE9F03E1}"/>
              </a:ext>
            </a:extLst>
          </p:cNvPr>
          <p:cNvSpPr>
            <a:spLocks noGrp="1"/>
          </p:cNvSpPr>
          <p:nvPr/>
        </p:nvSpPr>
        <p:spPr>
          <a:xfrm>
            <a:off x="7581900" y="3581400"/>
            <a:ext cx="2590800" cy="3048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3. charge(order)</a:t>
            </a:r>
          </a:p>
        </p:txBody>
      </p:sp>
      <p:cxnSp>
        <p:nvCxnSpPr>
          <p:cNvPr id="74" name="直接箭头连接符 73"/>
          <p:cNvCxnSpPr/>
          <p:nvPr/>
        </p:nvCxnSpPr>
        <p:spPr>
          <a:xfrm>
            <a:off x="7486650" y="4524375"/>
            <a:ext cx="2781300" cy="0"/>
          </a:xfrm>
          <a:prstGeom prst="straightConnector1">
            <a:avLst/>
          </a:prstGeom>
          <a:ln w="19050">
            <a:solidFill>
              <a:srgbClr val="6D7C85"/>
            </a:solidFill>
            <a:prstDash val="dash"/>
            <a:headEnd type="arrow" w="med" len="med"/>
          </a:ln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35DE4CD5-CB84-40A3-84D4-B68FA629257C}"/>
              </a:ext>
            </a:extLst>
          </p:cNvPr>
          <p:cNvSpPr>
            <a:spLocks noGrp="1"/>
          </p:cNvSpPr>
          <p:nvPr/>
        </p:nvSpPr>
        <p:spPr>
          <a:xfrm>
            <a:off x="7581900" y="4200525"/>
            <a:ext cx="2590800" cy="3048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4. approved</a:t>
            </a:r>
          </a:p>
        </p:txBody>
      </p:sp>
      <p:cxnSp>
        <p:nvCxnSpPr>
          <p:cNvPr id="76" name="直接箭头连接符 75"/>
          <p:cNvCxnSpPr/>
          <p:nvPr/>
        </p:nvCxnSpPr>
        <p:spPr>
          <a:xfrm>
            <a:off x="4705350" y="5143500"/>
            <a:ext cx="2781300" cy="0"/>
          </a:xfrm>
          <a:prstGeom prst="straightConnector1">
            <a:avLst/>
          </a:prstGeom>
          <a:ln w="19050">
            <a:solidFill>
              <a:srgbClr val="173E56"/>
            </a:solidFill>
            <a:prstDash val="solid"/>
            <a:headEnd type="arrow" w="med" len="med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38D77151-5014-4A6F-B6E6-E9F3B1C210A0}"/>
              </a:ext>
            </a:extLst>
          </p:cNvPr>
          <p:cNvSpPr>
            <a:spLocks noGrp="1"/>
          </p:cNvSpPr>
          <p:nvPr/>
        </p:nvSpPr>
        <p:spPr>
          <a:xfrm>
            <a:off x="4800600" y="4819650"/>
            <a:ext cx="2590800" cy="304800"/>
          </a:xfrm>
          <a:prstGeom prst="rect">
            <a:avLst/>
          </a:prstGeom>
          <a:solidFill>
            <a:srgbClr val="FAFCF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15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5. transitionTo(PaidState)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2384E48-DDE3-4743-A374-253A5732FC57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27B084-9397-4FCC-821D-C71B58AE6AF8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4F265E0-FE05-42C1-AE6C-1926B2479F79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支付被拒绝时不迁移，订单保持PENDING。</a:t>
            </a:r>
          </a:p>
        </p:txBody>
      </p:sp>
    </p:spTree>
    <p:extLst>
      <p:ext uri="{BB962C8B-B14F-4D97-AF65-F5344CB8AC3E}">
        <p14:creationId xmlns:p14="http://schemas.microsoft.com/office/powerpoint/2010/main" val="20059505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FE911F51-31F2-40BA-82B8-D315210218B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三 / 状态模式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EEF603-4238-4752-B191-9496D33DBE3B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47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4BBFD4-6155-40A9-84A4-3E453A9B264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迁移责任可以放在哪里？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06652B-C7DA-41AE-A614-EBFD7D3B19C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80C1CC0-130E-41C8-A2F1-06C94C963D0D}"/>
              </a:ext>
            </a:extLst>
          </p:cNvPr>
          <p:cNvSpPr>
            <a:spLocks noGrp="1"/>
          </p:cNvSpPr>
          <p:nvPr/>
        </p:nvSpPr>
        <p:spPr>
          <a:xfrm>
            <a:off x="1476375" y="1695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由Concrete State决定：状态类更了解合法迁移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03686C-64F0-4503-B3B9-0ADE6B40C422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0F75F0-C599-491E-A2E0-76CAAFD6DEE4}"/>
              </a:ext>
            </a:extLst>
          </p:cNvPr>
          <p:cNvSpPr>
            <a:spLocks noGrp="1"/>
          </p:cNvSpPr>
          <p:nvPr/>
        </p:nvSpPr>
        <p:spPr>
          <a:xfrm>
            <a:off x="1476375" y="2647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由Context决定：迁移规则集中但可能再次出现条件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0B10F3-B323-4557-A333-F23031E882B7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EEBF71-7DA4-4A70-9975-498EA279747A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由外部状态机决定：适合复杂流程和配置化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F8C514-C004-471B-9A07-6E3A06E27F4E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BD8E35-3F2C-4472-BCB2-733A9A365BD8}"/>
              </a:ext>
            </a:extLst>
          </p:cNvPr>
          <p:cNvSpPr>
            <a:spLocks noGrp="1"/>
          </p:cNvSpPr>
          <p:nvPr/>
        </p:nvSpPr>
        <p:spPr>
          <a:xfrm>
            <a:off x="1476375" y="4552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本课示例采用Concrete State决定迁移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13CC04-9E96-460A-9B2C-CAA7CABEE8CE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C45842-5945-4223-B606-80C61FB3E6D3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974127-136D-4AD1-A566-C7AC9EEA6CD9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迁移规则可由具体状态、Context或外部状态机管理。</a:t>
            </a:r>
          </a:p>
        </p:txBody>
      </p:sp>
    </p:spTree>
    <p:extLst>
      <p:ext uri="{BB962C8B-B14F-4D97-AF65-F5344CB8AC3E}">
        <p14:creationId xmlns:p14="http://schemas.microsoft.com/office/powerpoint/2010/main" val="15904156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7ABF2DF-FFB8-43CC-A6B3-EDAC3410A57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三 / 状态模式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FBEE0A-BB13-4D3A-91AF-5B3898CAE799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48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2DD3DF-7625-49B1-8DCE-D886BA926B9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状态模式怎样测试？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555325-5309-4DE3-866D-39A4D07EBA5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7693729-63AA-4592-9F3E-76054726F7B3}"/>
              </a:ext>
            </a:extLst>
          </p:cNvPr>
          <p:cNvSpPr>
            <a:spLocks noGrp="1"/>
          </p:cNvSpPr>
          <p:nvPr/>
        </p:nvSpPr>
        <p:spPr>
          <a:xfrm>
            <a:off x="1476375" y="1695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每个合法动作产生正确目标状态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176896A-2C80-41AD-9743-0B833D996F57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F4D2A3-7155-4843-94CA-910DA405DC7E}"/>
              </a:ext>
            </a:extLst>
          </p:cNvPr>
          <p:cNvSpPr>
            <a:spLocks noGrp="1"/>
          </p:cNvSpPr>
          <p:nvPr/>
        </p:nvSpPr>
        <p:spPr>
          <a:xfrm>
            <a:off x="1476375" y="2647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非法动作抛出稳定错误并保持原状态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04CECE-3B2B-4E50-B3A9-26A5D0CDBB35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69BE4C-208F-499B-99BB-22F34DC45B5B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终态拒绝后续修改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195F8B-95B5-445F-AE88-751DF31DAC74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49CDF1B-6AAC-403D-A2F6-A0EB1B2CAEB0}"/>
              </a:ext>
            </a:extLst>
          </p:cNvPr>
          <p:cNvSpPr>
            <a:spLocks noGrp="1"/>
          </p:cNvSpPr>
          <p:nvPr/>
        </p:nvSpPr>
        <p:spPr>
          <a:xfrm>
            <a:off x="1476375" y="4552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端到端测试覆盖关键业务路径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685837-BEFE-4245-B115-302E3C9A3A14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6035DF-4674-48FE-946C-6581619B095D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4133B72-5D99-4BA9-9A87-8BE0843A61BD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状态测试既检查成功后的目标状态，也检查拒绝后的原状态。</a:t>
            </a:r>
          </a:p>
        </p:txBody>
      </p:sp>
    </p:spTree>
    <p:extLst>
      <p:ext uri="{BB962C8B-B14F-4D97-AF65-F5344CB8AC3E}">
        <p14:creationId xmlns:p14="http://schemas.microsoft.com/office/powerpoint/2010/main" val="7214953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860BC956-4677-49BC-A674-657E7A6B341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三 / 状态模式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BCA325-624A-4E36-BF05-C5EEB98C05BB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49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3AA100-2CE0-46A5-9A15-CD95300A672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什么时候适合状态模式？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1ED514-D9A9-4D02-9DD2-FEFFEE69D76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B03426-2211-463D-9FD1-1757A8B3D212}"/>
              </a:ext>
            </a:extLst>
          </p:cNvPr>
          <p:cNvSpPr>
            <a:spLocks noGrp="1"/>
          </p:cNvSpPr>
          <p:nvPr/>
        </p:nvSpPr>
        <p:spPr>
          <a:xfrm>
            <a:off x="1476375" y="1695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对象具有清晰生命周期和有限状态集合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FFC98D-B1EC-46DA-8E66-0038E3CD3442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0E5FFA-B634-4A8A-AB8B-959B88159A77}"/>
              </a:ext>
            </a:extLst>
          </p:cNvPr>
          <p:cNvSpPr>
            <a:spLocks noGrp="1"/>
          </p:cNvSpPr>
          <p:nvPr/>
        </p:nvSpPr>
        <p:spPr>
          <a:xfrm>
            <a:off x="1476375" y="2647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多个动作都依赖当前状态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06586C-B995-4707-BFC6-519DBE7C5F7C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71C177-B04B-4E53-B3F3-F49B9830549E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状态变化伴随行为变化和迁移规则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6300F0-AE23-4918-926F-7EBF5D2CE6C0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84730E-C40F-493E-9D0C-922EDC33F5EF}"/>
              </a:ext>
            </a:extLst>
          </p:cNvPr>
          <p:cNvSpPr>
            <a:spLocks noGrp="1"/>
          </p:cNvSpPr>
          <p:nvPr/>
        </p:nvSpPr>
        <p:spPr>
          <a:xfrm>
            <a:off x="1476375" y="4552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状态分支已经分散到多个方法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A448438-49A7-41AC-BA37-260D5AD43FC7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D4B8BB-BEDE-4CA8-A67C-8246E2663453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30A0BB-8E1B-4A0D-ADB5-B75A1DB559E4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生命周期明确，且多个动作依赖状态时，再考虑状态模式。</a:t>
            </a:r>
          </a:p>
        </p:txBody>
      </p:sp>
    </p:spTree>
    <p:extLst>
      <p:ext uri="{BB962C8B-B14F-4D97-AF65-F5344CB8AC3E}">
        <p14:creationId xmlns:p14="http://schemas.microsoft.com/office/powerpoint/2010/main" val="15328349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1D29D83-D743-4DBE-81BA-DDD8A538B50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三 / 状态模式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C42D35-4B83-47D8-B139-0A844BFD6909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50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C9B8CC-F25B-419F-9987-8AD6117EE1E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状态模式的效果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FBB635-9B54-43D3-820D-0C015F84DAFB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0CAC5C-AE80-4D66-BD86-7E316F228C1E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5095875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6220EE-A136-460C-B85A-68AE2CB2EE3B}"/>
              </a:ext>
            </a:extLst>
          </p:cNvPr>
          <p:cNvSpPr>
            <a:spLocks noGrp="1"/>
          </p:cNvSpPr>
          <p:nvPr/>
        </p:nvSpPr>
        <p:spPr>
          <a:xfrm>
            <a:off x="6515100" y="1819275"/>
            <a:ext cx="50673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3B2840-BF9D-49EB-B130-CB4F08BD9FF9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5095875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状态行为集中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新增状态影响更局部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迁移可独立测试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373760-AD5A-4CB4-BCEF-C2D982310963}"/>
              </a:ext>
            </a:extLst>
          </p:cNvPr>
          <p:cNvSpPr>
            <a:spLocks noGrp="1"/>
          </p:cNvSpPr>
          <p:nvPr/>
        </p:nvSpPr>
        <p:spPr>
          <a:xfrm>
            <a:off x="6515100" y="2952750"/>
            <a:ext cx="5067300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状态类数量增加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迁移可能分散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简单生命周期会被复杂化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22B699-DA27-419C-8CCB-612709F82A42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FAE361-13CB-48FF-83AA-AC641704920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F8DBB3E-CE18-42ED-BA45-9BF901EA7CEC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同一阶段的行为集中管理，全部迁移仍需状态图与测试共同维护。</a:t>
            </a:r>
          </a:p>
        </p:txBody>
      </p:sp>
    </p:spTree>
    <p:extLst>
      <p:ext uri="{BB962C8B-B14F-4D97-AF65-F5344CB8AC3E}">
        <p14:creationId xmlns:p14="http://schemas.microsoft.com/office/powerpoint/2010/main" val="17630364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2BFFEF33-5410-40B6-BD78-A1F6B1399D6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三 / 状态模式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64AF842-E47D-4EF3-8258-FC47A6A42599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51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6748B7-0E05-44E4-91EF-1716DA43539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状态模式与策略模式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C352E6-8C3C-4DAE-8689-39BA756A6025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E9E3BD-F4CC-4D31-B40A-2AECA52265CD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5095875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策略模式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6C61D5-C5C9-4799-813F-396E07809672}"/>
              </a:ext>
            </a:extLst>
          </p:cNvPr>
          <p:cNvSpPr>
            <a:spLocks noGrp="1"/>
          </p:cNvSpPr>
          <p:nvPr/>
        </p:nvSpPr>
        <p:spPr>
          <a:xfrm>
            <a:off x="6515100" y="1819275"/>
            <a:ext cx="50673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状态模式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B8CE23-3A39-4960-834A-B847BD68DD1C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5095875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通常由Client或装配选择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表示可替换算法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不强调生命周期迁移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511E3C-B4C8-4A33-B885-289B758FFDD2}"/>
              </a:ext>
            </a:extLst>
          </p:cNvPr>
          <p:cNvSpPr>
            <a:spLocks noGrp="1"/>
          </p:cNvSpPr>
          <p:nvPr/>
        </p:nvSpPr>
        <p:spPr>
          <a:xfrm>
            <a:off x="6515100" y="2952750"/>
            <a:ext cx="5067300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由Context按内部状态委托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表示对象当前阶段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动作经常触发迁移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AA784B-13C8-4A4A-9847-2FA9C1D2DBD0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2361BE-3EB8-455F-9928-20B9A36098B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D9EB55-AD01-49FD-8C04-248F69C49064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策略用于替换算法，状态用于表达对象的生命周期行为。</a:t>
            </a:r>
          </a:p>
        </p:txBody>
      </p:sp>
    </p:spTree>
    <p:extLst>
      <p:ext uri="{BB962C8B-B14F-4D97-AF65-F5344CB8AC3E}">
        <p14:creationId xmlns:p14="http://schemas.microsoft.com/office/powerpoint/2010/main" val="1828995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3503BB6-8D10-410B-AA31-82A8A49DB60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三 / 状态模式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766B0A-F00B-4011-84AC-89EF6AF60445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52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D2A10A-9E88-4CE3-B49B-15B1C1BECB9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概念检查：是否需要状态模式？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BA1245-48DA-4E7D-B038-2E1B25B43C12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E0127D-0447-4EBF-95AF-2765CD9171E7}"/>
              </a:ext>
            </a:extLst>
          </p:cNvPr>
          <p:cNvSpPr>
            <a:spLocks noGrp="1"/>
          </p:cNvSpPr>
          <p:nvPr/>
        </p:nvSpPr>
        <p:spPr>
          <a:xfrm>
            <a:off x="1476375" y="1695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只有enabled布尔值且行为简单：通常不需要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6DE1F7-5513-48C3-BB7C-699B7B938732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5BD366-86E3-424F-AE02-F40FDE149134}"/>
              </a:ext>
            </a:extLst>
          </p:cNvPr>
          <p:cNvSpPr>
            <a:spLocks noGrp="1"/>
          </p:cNvSpPr>
          <p:nvPr/>
        </p:nvSpPr>
        <p:spPr>
          <a:xfrm>
            <a:off x="1476375" y="2647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订单五种状态影响多个动作：强证据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1A8543-3037-472E-9EA1-768EDE5CC163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1435CF-0E8C-4D0B-BF9F-6B7F6E701B1B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根据用户选择排序算法：更像Strategy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55FB22-2A6F-4F78-B54E-E2A508F9AFC0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9AAE7C-A54B-457E-8AA5-F11EA74B89EE}"/>
              </a:ext>
            </a:extLst>
          </p:cNvPr>
          <p:cNvSpPr>
            <a:spLocks noGrp="1"/>
          </p:cNvSpPr>
          <p:nvPr/>
        </p:nvSpPr>
        <p:spPr>
          <a:xfrm>
            <a:off x="1476375" y="4552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状态没有行为、只用于展示标签：保留枚举即可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A32E84-39E6-4CE7-ADF3-186D4A8F765D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971256-C07A-4F43-958A-E6947232952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39DCC0-B668-4D19-9FB3-4BB577A8CB8F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关键问题：对象是否因内部状态而改变行为？</a:t>
            </a:r>
          </a:p>
        </p:txBody>
      </p:sp>
    </p:spTree>
    <p:extLst>
      <p:ext uri="{BB962C8B-B14F-4D97-AF65-F5344CB8AC3E}">
        <p14:creationId xmlns:p14="http://schemas.microsoft.com/office/powerpoint/2010/main" val="7571488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956BF4B-B0E5-4261-A0A2-62E6EB08FDE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模式辨析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41B879-7745-4E8B-91DB-858B44F35DE1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53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F764CD-6472-4DD0-8F79-60F18291BB9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三个模式放在同一张地图上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164DA1-6936-4B7E-8141-6B21B308E316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策略模式 Strategy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25E00F-BE4B-4E03-B983-E9564A1C2D2D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变化单位：整套算法</a:t>
            </a:r>
          </a:p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主要关系：组合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021322-C0C3-4C44-B2F4-D77CA0399B47}"/>
              </a:ext>
            </a:extLst>
          </p:cNvPr>
          <p:cNvSpPr>
            <a:spLocks noGrp="1"/>
          </p:cNvSpPr>
          <p:nvPr/>
        </p:nvSpPr>
        <p:spPr>
          <a:xfrm>
            <a:off x="6515100" y="1762125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模板方法 Template Method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998FA4-0AC3-49C5-834B-370CED3B4564}"/>
              </a:ext>
            </a:extLst>
          </p:cNvPr>
          <p:cNvSpPr>
            <a:spLocks noGrp="1"/>
          </p:cNvSpPr>
          <p:nvPr/>
        </p:nvSpPr>
        <p:spPr>
          <a:xfrm>
            <a:off x="6515100" y="249555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变化单位：骨架中的步骤</a:t>
            </a:r>
          </a:p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主要关系：继承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82F488-6F82-448C-84C6-18EF58BCDC39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状态模式 State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5C749D-A8BC-452D-813B-E16314B9202E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变化单位：状态对应行为</a:t>
            </a:r>
          </a:p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主要关系：Context组合State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E0EB2A-D992-4675-A28B-E2FF9A74880F}"/>
              </a:ext>
            </a:extLst>
          </p:cNvPr>
          <p:cNvSpPr>
            <a:spLocks noGrp="1"/>
          </p:cNvSpPr>
          <p:nvPr/>
        </p:nvSpPr>
        <p:spPr>
          <a:xfrm>
            <a:off x="6515100" y="3905250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共同基础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024A6D-8544-4800-B9BE-D191F7117B86}"/>
              </a:ext>
            </a:extLst>
          </p:cNvPr>
          <p:cNvSpPr>
            <a:spLocks noGrp="1"/>
          </p:cNvSpPr>
          <p:nvPr/>
        </p:nvSpPr>
        <p:spPr>
          <a:xfrm>
            <a:off x="6515100" y="4638675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封装变化、多态分派、承担额外结构成本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3268F7-B251-4193-8A50-AEFFEEE2EA74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CE4BE8-60CF-430B-AD1B-EEE167CEE1C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92C30F-FDE8-492D-B1B5-937D7EA0F40C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三个模式都封装变化，但变化单位不同。</a:t>
            </a:r>
          </a:p>
        </p:txBody>
      </p:sp>
    </p:spTree>
    <p:extLst>
      <p:ext uri="{BB962C8B-B14F-4D97-AF65-F5344CB8AC3E}">
        <p14:creationId xmlns:p14="http://schemas.microsoft.com/office/powerpoint/2010/main" val="17146819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526362A-B486-4515-B773-25C351F3AB3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模式辨析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5D9EEA-6C2A-4DC2-B501-52D19ED3C8F9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54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23F32B-FB4B-4A89-8F1F-85B68124707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面对变化时的判断顺序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A73D13-CA33-4FCA-98A2-FEAE37C79490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25146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E358FD-A125-4A86-8300-B40149B35A70}"/>
              </a:ext>
            </a:extLst>
          </p:cNvPr>
          <p:cNvSpPr>
            <a:spLocks noGrp="1"/>
          </p:cNvSpPr>
          <p:nvPr/>
        </p:nvSpPr>
        <p:spPr>
          <a:xfrm>
            <a:off x="609600" y="2943225"/>
            <a:ext cx="25146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完整算法？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BA1DC3B-E292-457B-A962-0F2FA035FC04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51460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Strategy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025D9A-2D13-4BA3-BD3F-BC14929D1FF3}"/>
              </a:ext>
            </a:extLst>
          </p:cNvPr>
          <p:cNvSpPr>
            <a:spLocks noGrp="1"/>
          </p:cNvSpPr>
          <p:nvPr/>
        </p:nvSpPr>
        <p:spPr>
          <a:xfrm>
            <a:off x="3352800" y="2038350"/>
            <a:ext cx="25146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BE7944-A137-4D33-BB06-D1EA4D630BF6}"/>
              </a:ext>
            </a:extLst>
          </p:cNvPr>
          <p:cNvSpPr>
            <a:spLocks noGrp="1"/>
          </p:cNvSpPr>
          <p:nvPr/>
        </p:nvSpPr>
        <p:spPr>
          <a:xfrm>
            <a:off x="3352800" y="2943225"/>
            <a:ext cx="25146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稳定骨架？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96E6E6-64D9-4E82-AE0C-D8F3CC507C0D}"/>
              </a:ext>
            </a:extLst>
          </p:cNvPr>
          <p:cNvSpPr>
            <a:spLocks noGrp="1"/>
          </p:cNvSpPr>
          <p:nvPr/>
        </p:nvSpPr>
        <p:spPr>
          <a:xfrm>
            <a:off x="3352800" y="3905250"/>
            <a:ext cx="251460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Template Method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43F83BC-EA5E-44A2-80D5-41E47E974D73}"/>
              </a:ext>
            </a:extLst>
          </p:cNvPr>
          <p:cNvSpPr>
            <a:spLocks noGrp="1"/>
          </p:cNvSpPr>
          <p:nvPr/>
        </p:nvSpPr>
        <p:spPr>
          <a:xfrm>
            <a:off x="6096000" y="2038350"/>
            <a:ext cx="25146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85B5F2-BF46-4F41-8D07-2CCB7F0ACE34}"/>
              </a:ext>
            </a:extLst>
          </p:cNvPr>
          <p:cNvSpPr>
            <a:spLocks noGrp="1"/>
          </p:cNvSpPr>
          <p:nvPr/>
        </p:nvSpPr>
        <p:spPr>
          <a:xfrm>
            <a:off x="6096000" y="2943225"/>
            <a:ext cx="25146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内部状态？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1134EF-50F9-4EBA-8701-00FA518C41DE}"/>
              </a:ext>
            </a:extLst>
          </p:cNvPr>
          <p:cNvSpPr>
            <a:spLocks noGrp="1"/>
          </p:cNvSpPr>
          <p:nvPr/>
        </p:nvSpPr>
        <p:spPr>
          <a:xfrm>
            <a:off x="6096000" y="3905250"/>
            <a:ext cx="251460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State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32C3B9-A878-47B7-A2B0-7009D3F06EBD}"/>
              </a:ext>
            </a:extLst>
          </p:cNvPr>
          <p:cNvSpPr>
            <a:spLocks noGrp="1"/>
          </p:cNvSpPr>
          <p:nvPr/>
        </p:nvSpPr>
        <p:spPr>
          <a:xfrm>
            <a:off x="8839200" y="2038350"/>
            <a:ext cx="251460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E5A70A-0B3E-4DCB-A5E3-E78CBB4E4318}"/>
              </a:ext>
            </a:extLst>
          </p:cNvPr>
          <p:cNvSpPr>
            <a:spLocks noGrp="1"/>
          </p:cNvSpPr>
          <p:nvPr/>
        </p:nvSpPr>
        <p:spPr>
          <a:xfrm>
            <a:off x="8839200" y="2943225"/>
            <a:ext cx="25146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证据不足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B515B0B-7D58-476A-A47E-5F98D24027E2}"/>
              </a:ext>
            </a:extLst>
          </p:cNvPr>
          <p:cNvSpPr>
            <a:spLocks noGrp="1"/>
          </p:cNvSpPr>
          <p:nvPr/>
        </p:nvSpPr>
        <p:spPr>
          <a:xfrm>
            <a:off x="8839200" y="3905250"/>
            <a:ext cx="2514600" cy="904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保持简单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0562A3A-EB0A-496A-9546-8B580DEC6221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30EDE0-450A-430F-ABD0-9FDAF0E0AF3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F426BD-47B5-408C-B200-6445B298D15D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这些判断问题用于定位变化，不是必须依次执行的算法，也不是互斥选择。</a:t>
            </a:r>
          </a:p>
        </p:txBody>
      </p:sp>
    </p:spTree>
    <p:extLst>
      <p:ext uri="{BB962C8B-B14F-4D97-AF65-F5344CB8AC3E}">
        <p14:creationId xmlns:p14="http://schemas.microsoft.com/office/powerpoint/2010/main" val="340363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C9CB61E6-D07D-4E8A-9D29-1F877F29131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模式辨析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BD0BEE-3134-4980-B5B2-94ADFD76AD61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55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DC0E65-2312-4350-857A-1A59FA41C60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常见误用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BC2A396-8910-4B26-96CC-528CEBE68824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3EAB53-0437-464D-83B2-B84A57620E39}"/>
              </a:ext>
            </a:extLst>
          </p:cNvPr>
          <p:cNvSpPr>
            <a:spLocks noGrp="1"/>
          </p:cNvSpPr>
          <p:nvPr/>
        </p:nvSpPr>
        <p:spPr>
          <a:xfrm>
            <a:off x="1476375" y="1695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看到if就创建Strategy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889AF1-3038-4153-A097-6F6F422B75EA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64CA279-1C45-4518-A74D-F673E5915E4E}"/>
              </a:ext>
            </a:extLst>
          </p:cNvPr>
          <p:cNvSpPr>
            <a:spLocks noGrp="1"/>
          </p:cNvSpPr>
          <p:nvPr/>
        </p:nvSpPr>
        <p:spPr>
          <a:xfrm>
            <a:off x="1476375" y="2647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为了消除重复就建立抽象父类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93BCC0-068A-4161-87BA-B07B7242B2E0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89A80F-A34B-430A-AF60-8EBD1359E294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把普通枚举机械地改成State类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4FE5312-35B3-4E7C-BF0B-5FCAF48623F5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156C3D-52BD-4E07-B788-9887D85088A7}"/>
              </a:ext>
            </a:extLst>
          </p:cNvPr>
          <p:cNvSpPr>
            <a:spLocks noGrp="1"/>
          </p:cNvSpPr>
          <p:nvPr/>
        </p:nvSpPr>
        <p:spPr>
          <a:xfrm>
            <a:off x="1476375" y="4552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只画类图，不解释运行时对象和实际变化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5008284-F8D9-4032-B4AB-A31D005947DB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B2C34D4-1A6E-4FFB-A1C9-7F7EEE8D54D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91AE307-49C9-47B4-8EC4-1812A3B8FF8D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模式的价值来自它保护的变化，而不是类的数量。</a:t>
            </a:r>
          </a:p>
        </p:txBody>
      </p:sp>
    </p:spTree>
    <p:extLst>
      <p:ext uri="{BB962C8B-B14F-4D97-AF65-F5344CB8AC3E}">
        <p14:creationId xmlns:p14="http://schemas.microsoft.com/office/powerpoint/2010/main" val="16835066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5D0E663-BF81-4494-A9CB-76949271559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综合实践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81C9A8-502B-4FE4-8BA5-B1EAE0725114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56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971C7F-BDE4-47E5-98EF-CAE78D8C109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综合实践：图书借阅系统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3D4491-51C6-455D-BAB0-14E29F94A72E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2047875" cy="1333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750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E33CC8-8063-4D8D-9F0D-FAF217CE2D93}"/>
              </a:ext>
            </a:extLst>
          </p:cNvPr>
          <p:cNvSpPr>
            <a:spLocks noGrp="1"/>
          </p:cNvSpPr>
          <p:nvPr/>
        </p:nvSpPr>
        <p:spPr>
          <a:xfrm>
            <a:off x="3124200" y="2324100"/>
            <a:ext cx="8191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7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把三种设计思路应用到新的业务需求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665578-39FB-42FC-A4D0-DC5069CC6AB8}"/>
              </a:ext>
            </a:extLst>
          </p:cNvPr>
          <p:cNvSpPr>
            <a:spLocks noGrp="1"/>
          </p:cNvSpPr>
          <p:nvPr/>
        </p:nvSpPr>
        <p:spPr>
          <a:xfrm>
            <a:off x="3124200" y="3819525"/>
            <a:ext cx="8096250" cy="1047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图书借阅：独立分析规则、流程与状态。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2F3CB3-98B9-4A78-B51A-03E85EFB32B9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2603C8-3F19-4FDA-8494-D53C09E55CBD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D46A83-1E11-4FFE-AB4C-438A886001C2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实践改用图书借阅系统，要求独立分析读者规则、借阅流程和图书生命周期。</a:t>
            </a:r>
          </a:p>
        </p:txBody>
      </p:sp>
    </p:spTree>
    <p:extLst>
      <p:ext uri="{BB962C8B-B14F-4D97-AF65-F5344CB8AC3E}">
        <p14:creationId xmlns:p14="http://schemas.microsoft.com/office/powerpoint/2010/main" val="13702398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E7680EE-97BC-498B-AC6F-C93616C8F3E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综合实践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CED55E-7B58-4710-B91A-CB14BDA24CDF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57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1E1F99-88BD-4CF3-83A5-86294D82A65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从订单处理到图书借阅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50B80C-45D2-4692-AC64-A2C0C8720AB2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6A5162-752A-4364-ABA6-9ABC68679F40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5095875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订单案例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9FC725-23CC-4097-AA77-1E2E12F4D5EA}"/>
              </a:ext>
            </a:extLst>
          </p:cNvPr>
          <p:cNvSpPr>
            <a:spLocks noGrp="1"/>
          </p:cNvSpPr>
          <p:nvPr/>
        </p:nvSpPr>
        <p:spPr>
          <a:xfrm>
            <a:off x="6515100" y="1819275"/>
            <a:ext cx="50673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借阅需求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E6A73B-91D2-499F-9359-CDD4F1BAD887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5095875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配送费用算法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订单处理骨架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订单生命周期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A418CB-2F06-4A9E-99D0-418B6AE1C652}"/>
              </a:ext>
            </a:extLst>
          </p:cNvPr>
          <p:cNvSpPr>
            <a:spLocks noGrp="1"/>
          </p:cNvSpPr>
          <p:nvPr/>
        </p:nvSpPr>
        <p:spPr>
          <a:xfrm>
            <a:off x="6515100" y="2952750"/>
            <a:ext cx="5067300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读者借阅规则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借阅流程扩展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图书生命周期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922BC5-4E95-4BF6-92B2-A84F01310541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DB3B02-7971-46D5-A732-9190FB19A855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67B3DD-6472-4E85-A75F-415C0C4C4DC5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迁移的是问题分析方法和模式结构，不是业务类名。</a:t>
            </a:r>
          </a:p>
        </p:txBody>
      </p:sp>
    </p:spTree>
    <p:extLst>
      <p:ext uri="{BB962C8B-B14F-4D97-AF65-F5344CB8AC3E}">
        <p14:creationId xmlns:p14="http://schemas.microsoft.com/office/powerpoint/2010/main" val="2676171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71DE888B-F98F-4984-9FF1-5CF280F5EE2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综合实践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EEA4AD-9CD0-4003-A55D-AF2BE9D5B9CA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58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1AEFD0-4611-4628-850A-B498D14CD27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三个连续实践任务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A161AE-7D38-442B-BC1A-B3B167AD3815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865A76-A2BB-42CA-ADE7-A31EC8CD654A}"/>
              </a:ext>
            </a:extLst>
          </p:cNvPr>
          <p:cNvSpPr>
            <a:spLocks noGrp="1"/>
          </p:cNvSpPr>
          <p:nvPr/>
        </p:nvSpPr>
        <p:spPr>
          <a:xfrm>
            <a:off x="1476375" y="1695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任务A：新增VIP借阅规则；未来新增读者时，已有规则应保持稳定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9FE91B-34E3-4BB5-A5FD-58097CFCB59A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BB7ED9-623D-4369-92DB-A20902B07FFB}"/>
              </a:ext>
            </a:extLst>
          </p:cNvPr>
          <p:cNvSpPr>
            <a:spLocks noGrp="1"/>
          </p:cNvSpPr>
          <p:nvPr/>
        </p:nvSpPr>
        <p:spPr>
          <a:xfrm>
            <a:off x="1476375" y="2647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任务B：支持标准借阅与审计借阅；核心顺序一致，失败时不得产生审计记录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70BA13-D7C9-4F56-8BD2-171C41FFFDB9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DAE173-F49B-49BD-9FBD-176EF9FB1A09}"/>
              </a:ext>
            </a:extLst>
          </p:cNvPr>
          <p:cNvSpPr>
            <a:spLocks noGrp="1"/>
          </p:cNvSpPr>
          <p:nvPr/>
        </p:nvSpPr>
        <p:spPr>
          <a:xfrm>
            <a:off x="1476375" y="36004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任务C：支持图书可借、借出、预约、维修状态及合法迁移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E41738-CFF7-4D49-AACF-C293ED2E945C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619125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8377D3-2B56-4904-B291-B2CCCE056D50}"/>
              </a:ext>
            </a:extLst>
          </p:cNvPr>
          <p:cNvSpPr>
            <a:spLocks noGrp="1"/>
          </p:cNvSpPr>
          <p:nvPr/>
        </p:nvSpPr>
        <p:spPr>
          <a:xfrm>
            <a:off x="1476375" y="4552950"/>
            <a:ext cx="10048875" cy="790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每个任务自行决定类、接口、继承或组合关系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58B6FA-BB64-487F-BD48-02C911BC083C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BEEC09-DC9F-4F8E-B29F-C778B37A3BED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508871-526E-4818-BEEE-DE7468FBC0CD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按任务单完成规则、流程与状态设计，每阶段保留已有行为。</a:t>
            </a:r>
          </a:p>
        </p:txBody>
      </p:sp>
    </p:spTree>
    <p:extLst>
      <p:ext uri="{BB962C8B-B14F-4D97-AF65-F5344CB8AC3E}">
        <p14:creationId xmlns:p14="http://schemas.microsoft.com/office/powerpoint/2010/main" val="3836197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87CD51A2-BE2A-44FE-9D7F-C17ABDAA7C1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综合实践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6D83D5-CD16-4EA3-85D5-E31A00B33995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59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7665DB-D28D-4E2D-BE28-DBCB60E34FF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实践验收标准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8890E2-7B84-482D-82C0-0D3D1E00091B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行为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1CE804-74A7-4128-A4CF-694E595D34DC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新旧业务规则全部正确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478E38-20F8-4330-84D8-3A572A099781}"/>
              </a:ext>
            </a:extLst>
          </p:cNvPr>
          <p:cNvSpPr>
            <a:spLocks noGrp="1"/>
          </p:cNvSpPr>
          <p:nvPr/>
        </p:nvSpPr>
        <p:spPr>
          <a:xfrm>
            <a:off x="6515100" y="1762125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3D4FC1-EC1F-4474-8355-6AB60BF405E0}"/>
              </a:ext>
            </a:extLst>
          </p:cNvPr>
          <p:cNvSpPr>
            <a:spLocks noGrp="1"/>
          </p:cNvSpPr>
          <p:nvPr/>
        </p:nvSpPr>
        <p:spPr>
          <a:xfrm>
            <a:off x="6515100" y="249555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变化不再扩散到无关模块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07FE9F-138D-47B4-9FFC-E9355C93FFEB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27BBD1-9DE4-4745-AAE3-833DB6EC6327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覆盖算法边界、流程失败和状态迁移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88BCA4-C183-4B42-873C-046287D47BA8}"/>
              </a:ext>
            </a:extLst>
          </p:cNvPr>
          <p:cNvSpPr>
            <a:spLocks noGrp="1"/>
          </p:cNvSpPr>
          <p:nvPr/>
        </p:nvSpPr>
        <p:spPr>
          <a:xfrm>
            <a:off x="6515100" y="3905250"/>
            <a:ext cx="5067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解释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B7746D-D1A7-4827-A49B-150FFB829610}"/>
              </a:ext>
            </a:extLst>
          </p:cNvPr>
          <p:cNvSpPr>
            <a:spLocks noGrp="1"/>
          </p:cNvSpPr>
          <p:nvPr/>
        </p:nvSpPr>
        <p:spPr>
          <a:xfrm>
            <a:off x="6515100" y="4638675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能用简短文字说明设计依据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786BB0-27C4-4316-986A-DC3327149540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D7FF1F0-19DE-4DF0-8339-BD615723E3DA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74E32D-993F-47C4-B00E-2020D55FEA94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验收同时考查行为、结构、测试与说明。</a:t>
            </a:r>
          </a:p>
        </p:txBody>
      </p:sp>
    </p:spTree>
    <p:extLst>
      <p:ext uri="{BB962C8B-B14F-4D97-AF65-F5344CB8AC3E}">
        <p14:creationId xmlns:p14="http://schemas.microsoft.com/office/powerpoint/2010/main" val="14175405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F8711A34-5944-4209-BB0E-E582B14AFEF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876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第3次课  /  综合实践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E9F486-7AC1-406F-BC3F-158208437470}"/>
              </a:ext>
            </a:extLst>
          </p:cNvPr>
          <p:cNvSpPr>
            <a:spLocks noGrp="1"/>
          </p:cNvSpPr>
          <p:nvPr/>
        </p:nvSpPr>
        <p:spPr>
          <a:xfrm>
            <a:off x="10477500" y="304800"/>
            <a:ext cx="11049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buNone/>
              <a:def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D7C85"/>
                </a:solidFill>
                <a:latin typeface="Microsoft YaHei"/>
                <a:ea typeface="Microsoft YaHei"/>
                <a:cs typeface="Microsoft YaHei"/>
              </a:rPr>
              <a:t>60 / 60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A54A0A-FF74-4AA2-BE66-4A6BA8EA7C8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提交要求与后续学习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FDA386-511D-43B3-8A93-B271BA41D920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C567D2-3BAC-4457-9819-7EAC2C2301B3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5095875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本课提交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D27BB7-5838-4A71-9F1B-9BF23854ACD0}"/>
              </a:ext>
            </a:extLst>
          </p:cNvPr>
          <p:cNvSpPr>
            <a:spLocks noGrp="1"/>
          </p:cNvSpPr>
          <p:nvPr/>
        </p:nvSpPr>
        <p:spPr>
          <a:xfrm>
            <a:off x="6515100" y="1819275"/>
            <a:ext cx="50673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后续学习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C5793C-7E34-4D1F-9E8C-ABCC4BD44F35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5095875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一个总ZIP，内含：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工程文件_学号_姓名.zip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设计说明_学号_姓名.docx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只交文字说明，不要求图或截图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3D66F11-A697-44AD-A104-C518FF47CB35}"/>
              </a:ext>
            </a:extLst>
          </p:cNvPr>
          <p:cNvSpPr>
            <a:spLocks noGrp="1"/>
          </p:cNvSpPr>
          <p:nvPr/>
        </p:nvSpPr>
        <p:spPr>
          <a:xfrm>
            <a:off x="6515100" y="2952750"/>
            <a:ext cx="5067300" cy="2571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第4次课继续学习：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命令模式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责任链模式</a:t>
            </a:r>
          </a:p>
          <a:p>
            <a:pPr algn="l">
              <a:buNone/>
              <a:def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642"/>
                </a:solidFill>
                <a:latin typeface="Microsoft YaHei"/>
                <a:ea typeface="Microsoft YaHei"/>
                <a:cs typeface="Microsoft YaHei"/>
              </a:rPr>
              <a:t>观察者模式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593BA4-D9A0-4076-94D1-AA527C4C6A0F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9525"/>
          </a:xfrm>
          <a:prstGeom prst="rect">
            <a:avLst/>
          </a:prstGeom>
          <a:solidFill>
            <a:srgbClr val="CCD7DB"/>
          </a:solidFill>
          <a:ln w="9525">
            <a:solidFill>
              <a:srgbClr val="CCD7DB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938AC6-6217-47DD-BDEB-D605EA8301E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714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5776E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C20058-7CC4-4183-8B1F-526E6EA2FA22}"/>
              </a:ext>
            </a:extLst>
          </p:cNvPr>
          <p:cNvSpPr>
            <a:spLocks noGrp="1"/>
          </p:cNvSpPr>
          <p:nvPr/>
        </p:nvSpPr>
        <p:spPr>
          <a:xfrm>
            <a:off x="1438275" y="6048375"/>
            <a:ext cx="1014412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buNone/>
              <a:def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73E56"/>
                </a:solidFill>
                <a:latin typeface="Microsoft YaHei"/>
                <a:ea typeface="Microsoft YaHei"/>
                <a:cs typeface="Microsoft YaHei"/>
              </a:rPr>
              <a:t>设计说明不超过300字；工程保留pom.xml和src，排除target与IDE缓存。</a:t>
            </a:r>
          </a:p>
        </p:txBody>
      </p:sp>
    </p:spTree>
    <p:extLst>
      <p:ext uri="{BB962C8B-B14F-4D97-AF65-F5344CB8AC3E}">
        <p14:creationId xmlns:p14="http://schemas.microsoft.com/office/powerpoint/2010/main" val="7079482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3567</Words>
  <Application>Microsoft Office PowerPoint</Application>
  <DocSecurity>0</DocSecurity>
  <PresentationFormat>宽屏</PresentationFormat>
  <Paragraphs>899</Paragraphs>
  <Slides>60</Slides>
  <Notes>60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4" baseType="lpstr">
      <vt:lpstr>Microsoft YaHei</vt:lpstr>
      <vt:lpstr>Aptos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xj li</cp:lastModifiedBy>
  <cp:revision>1</cp:revision>
  <dcterms:created xsi:type="dcterms:W3CDTF">2026-09-30T03:27:21Z</dcterms:created>
  <dcterms:modified xsi:type="dcterms:W3CDTF">2026-09-30T03:29:02Z</dcterms:modified>
</cp:coreProperties>
</file>